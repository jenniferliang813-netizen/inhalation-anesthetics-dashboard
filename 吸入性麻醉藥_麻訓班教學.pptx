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825" y="4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7319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D2810"/>
          </a:solidFill>
          <a:ln w="12700">
            <a:solidFill>
              <a:srgbClr val="3D2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91440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658368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秀傳醫療體系 麻醉科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麻醉科護理師訓練班教學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286000" cy="548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81543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主講：麻醉科醫師</a:t>
            </a:r>
            <a:r>
              <a:rPr lang="zh-TW" altLang="en-US" sz="13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梁婷瑋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對象：新進麻醉科護理師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C3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Inhalation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5C3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Anesthetics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課程大綱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007" y="1452408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007" y="1452408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007" y="145240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7927" y="1452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吸入性麻醉藥概論與分類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5007" y="1937040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5007" y="1937040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5007" y="19370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7927" y="1937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藥物動力學路徑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85007" y="2421672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007" y="2421672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5007" y="242167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7927" y="2421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吸收三大影響因素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85007" y="2906304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5007" y="2906304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5007" y="2906304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7927" y="29063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血／氣分配係數比較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85007" y="3390936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5007" y="3390936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5007" y="3390936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927" y="33909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定義與臨床意義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85007" y="3875568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5007" y="3875568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5007" y="387556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927" y="3875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影響因素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7007" y="1452408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7007" y="1452408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7007" y="145240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9927" y="1452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常用藥物特性比較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7007" y="1937040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7007" y="1937040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7007" y="193704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9927" y="1937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心血管系統影響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57007" y="2421672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7007" y="2421672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7007" y="242167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59927" y="2421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呼吸系統影響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57007" y="2906304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7007" y="2906304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7007" y="2906304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59927" y="29063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腦神經與顱內壓影響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757007" y="3390936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7007" y="3390936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7007" y="3390936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59927" y="33909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惡性高熱（Malignant Hyperthermia）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757007" y="3875568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7007" y="3875568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7007" y="387556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59927" y="3875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藥物毒性與特殊注意事項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概論與分類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 · 分類 · 作用機轉 · 歷史演進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吸入性麻醉藥概論與分類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6400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定義：經由肺部吸入，通過肺泡-血液屏障，分布至大腦，產生可逆性麻醉狀態的藥物。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069080" cy="2286000"/>
          </a:xfrm>
          <a:prstGeom prst="rect">
            <a:avLst/>
          </a:prstGeom>
          <a:solidFill>
            <a:srgbClr val="EAE0CE"/>
          </a:solidFill>
          <a:ln w="12700">
            <a:solidFill>
              <a:srgbClr val="EAE0C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673352"/>
            <a:ext cx="3849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揮發性麻醉藥（Volatile Agents）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4048" y="2057400"/>
            <a:ext cx="384962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Sevoflurane（七氟烷）✦ 臨床首選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Desflurane（地氟烷）✦ 甦醒最快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Isoflurane（異氟烷）✦ 效能強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Halothane（氟烷）✦ 歷史藥物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4297680" cy="2286000"/>
          </a:xfrm>
          <a:prstGeom prst="rect">
            <a:avLst/>
          </a:prstGeom>
          <a:solidFill>
            <a:srgbClr val="E8EDDF"/>
          </a:solidFill>
          <a:ln w="12700">
            <a:solidFill>
              <a:srgbClr val="E8EDD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167335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氣體麻醉藥（Gaseous Agents）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81728" y="2057400"/>
            <a:ext cx="407822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N₂O（笑氣）✦ 常作輔助使用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Xenon（氙氣）✦ 研究中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4041648"/>
            <a:ext cx="8595360" cy="822960"/>
          </a:xfrm>
          <a:prstGeom prst="rect">
            <a:avLst/>
          </a:prstGeom>
          <a:solidFill>
            <a:srgbClr val="F0E8D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4041648"/>
            <a:ext cx="73152" cy="82296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416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作用機轉：</a:t>
            </a: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增強 GABA-A 受體抑制效果（↑ Cl⁻ 內流）  ＋  抑制 NMDA 受體（↓ 興奮性）→ 全身麻醉</a:t>
            </a:r>
            <a:endParaRPr lang="en-US" sz="13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藥物動力學路徑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揮發器 → 肺泡 → 血液 → 大腦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FA/FI 比值與吸收曲線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藥物動力學路徑：吸入→肺泡→血液→大腦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揮發器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Vaporizer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輸出濃度 Fi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麻醉迴路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Circuit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稀釋・重複吸入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肺　泡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Alveoli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濃度 FA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動脈血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Arterial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溶解・運輸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960120"/>
            <a:ext cx="1508760" cy="12801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　腦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麻醉效果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468880"/>
            <a:ext cx="859536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FA/FI 比值：</a:t>
            </a: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 = 肺泡濃度（實際腦部感受到的濃度）；FI = 吸入濃度。FA/FI 越快接近 1.0，誘導速度越快。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FA/FI 上升速度比較（誘導快慢）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3557016"/>
            <a:ext cx="5029200" cy="20116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94560" y="3904488"/>
            <a:ext cx="3657600" cy="2011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4215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94560" y="4251960"/>
            <a:ext cx="3840480" cy="201168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215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4562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194560" y="4599432"/>
            <a:ext cx="2286000" cy="2011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4562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吸收三大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影響因素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溶解度 · 心輸出量 · 肺泡-靜脈分壓差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吸收三大影響因素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788920" cy="2921137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788920" cy="5029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3716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溶解度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血／氣分配係數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2514600" cy="20627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係數低 → 吸收少 → FA 上升快 → 誘導與甦醒快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係數高 → 吸收多 → FA 上升慢 → 誘導與甦醒慢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例：Des(0.45) 遠快於 Iso(1.4)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1325880"/>
            <a:ext cx="2788920" cy="2921137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325880"/>
            <a:ext cx="2788920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3716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22192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心輸出量（CO）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22192" y="1645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Cardiac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1965960"/>
            <a:ext cx="2514600" cy="22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 越高 → 肺血流↑ → 藥物吸收↑ → FA 上升慢 → 誘導慢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心衰竭（CO↓）→ FA 上升快 → 誘導更快（需減量！）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臨床：依據血流動力狀態調整藥物劑量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1325880"/>
            <a:ext cx="2788920" cy="2921137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325880"/>
            <a:ext cx="2788920" cy="50292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13716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704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肺泡-靜脈分壓差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75704" y="1645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Alveolar-Venous Gradient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8504" y="1965960"/>
            <a:ext cx="2514600" cy="2248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分壓差大 → 吸收多 → FA 上升慢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組織依序飽和：VRG（腦心）→ 肌肉 → 脂肪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脂肪吸收後，分壓差縮小，FA 上升加速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血／氣分配係數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決定誘導與甦醒速度的關鍵數值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 血／氣分配係數（Blood:Gas Partition Coefficient）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數值越低 → 誘導越快、甦醒越快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-982980" y="11612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03020" y="1216152"/>
            <a:ext cx="942975" cy="36576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7435" y="11612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982980" y="17282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03020" y="1783080"/>
            <a:ext cx="984885" cy="365760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9345" y="17282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-982980" y="22951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03020" y="2350008"/>
            <a:ext cx="1362075" cy="3657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6535" y="229514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0.65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-982980" y="28620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03020" y="2916936"/>
            <a:ext cx="2933700" cy="3657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5223" y="28620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-982980" y="3429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03020" y="3480257"/>
            <a:ext cx="4112074" cy="3657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0500" y="350672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90260" y="827532"/>
            <a:ext cx="3108960" cy="40690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0260" y="827532"/>
            <a:ext cx="3108960" cy="38404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0260" y="8275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臨床意義比較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90260" y="1284732"/>
            <a:ext cx="3108960" cy="457200"/>
          </a:xfrm>
          <a:prstGeom prst="rect">
            <a:avLst/>
          </a:prstGeom>
          <a:solidFill>
            <a:srgbClr val="F0EBE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1700" y="12847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99020" y="12847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最快誘導/甦醒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90260" y="1815084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1700" y="18150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99020" y="181508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快速，氣道溫和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90260" y="2345436"/>
            <a:ext cx="3108960" cy="457200"/>
          </a:xfrm>
          <a:prstGeom prst="rect">
            <a:avLst/>
          </a:prstGeom>
          <a:solidFill>
            <a:srgbClr val="F0EBE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1700" y="23454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99020" y="234543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中速，效能強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0260" y="2875788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1700" y="28757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99020" y="28757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慢，歷史藥物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90260" y="3406140"/>
            <a:ext cx="3108960" cy="457200"/>
          </a:xfrm>
          <a:prstGeom prst="rect">
            <a:avLst/>
          </a:prstGeom>
          <a:solidFill>
            <a:srgbClr val="F0EBE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1700" y="34061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99020" y="34061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快，輔助用途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1950" y="4204113"/>
            <a:ext cx="5303520" cy="502920"/>
          </a:xfrm>
          <a:prstGeom prst="rect">
            <a:avLst/>
          </a:prstGeom>
          <a:solidFill>
            <a:srgbClr val="E8EDDF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110" y="4204113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Meyer-Overton Rule：</a:t>
            </a: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油/氣係數越高 → 效能越強（MAC 越低）。脂溶性決定麻醉效能。</a:t>
            </a:r>
            <a:endParaRPr lang="en-US" sz="12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BB743D85-D278-45A3-2BA0-CC035D560ED7}"/>
              </a:ext>
            </a:extLst>
          </p:cNvPr>
          <p:cNvSpPr/>
          <p:nvPr/>
        </p:nvSpPr>
        <p:spPr>
          <a:xfrm>
            <a:off x="5532120" y="33969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定義與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臨床意義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最低肺泡濃度 · ED50 · 臨床劑量應用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 MAC（最低肺泡濃度）定義與臨床意義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= </a:t>
            </a:r>
            <a:r>
              <a:rPr lang="en-US" sz="1400" i="1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Minimum Alveolar Concentration</a:t>
            </a: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使 50% 受試者在切皮時無體動反應所需的最低肺泡麻醉藥濃度（ED₅₀）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各藥物 MAC 數值（at 37°C, 1 atm, 100% O₂）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5029200" cy="23042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藥物名稱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 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臨床特點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N₂O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9E6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無法單獨完成麻醉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Desflurane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7C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6.6%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甦醒最快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Sevoflurane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69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幼兒首選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052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1.15%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效能強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Halothane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B45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歷史藥物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1691640"/>
            <a:ext cx="3291840" cy="3154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691640"/>
            <a:ext cx="3291840" cy="38404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6911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臨床應用倍數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2231136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8" name="Shape 10"/>
          <p:cNvSpPr/>
          <p:nvPr/>
        </p:nvSpPr>
        <p:spPr>
          <a:xfrm>
            <a:off x="5669280" y="2231136"/>
            <a:ext cx="73152" cy="548640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223113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0.3–0.5 MAC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69480" y="223113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輕度鎮靜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0" y="2889504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889504"/>
            <a:ext cx="73152" cy="54864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28895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 MAC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69480" y="288950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無體動（ED₅₀）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0" y="3547872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3547872"/>
            <a:ext cx="73152" cy="54864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3547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 MAC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69480" y="35478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插管麻醉（ED₉₅）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0" y="420624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4206240"/>
            <a:ext cx="73152" cy="5486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4206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≥1.5 MAC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269480" y="4206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深度麻醉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影響因素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升高 MAC 的因素 · 降低 MAC 的因素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 MAC 影響因素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3891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升高 MAC 的因素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3931920" cy="3108960"/>
          </a:xfrm>
          <a:prstGeom prst="rect">
            <a:avLst/>
          </a:prstGeom>
          <a:solidFill>
            <a:srgbClr val="FEF6F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體溫過高（Hyperthermia）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慢性飲酒／慢性CNS興奮藥使用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甲狀腺亢進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嬰幼兒（高峰：6個月大）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中樞興奮藥（可卡因、安非他命）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高血壓（急性）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438912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229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 降低 MAC 的因素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206240" cy="3108960"/>
          </a:xfrm>
          <a:prstGeom prst="rect">
            <a:avLst/>
          </a:prstGeom>
          <a:solidFill>
            <a:srgbClr val="F0F4EA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258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高齡（每增10歲，MAC約降6%）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懷孕（降低30-40%）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低體溫（每降1°C，MAC約降5%）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急性飲酒／靜脈麻醉藥（propofol等）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阿片類藥物（opioids）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α₂促效劑（dexmedetomidine）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嚴重低血壓（MAP&lt;50 mmHg）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嚴重貧血（Hct&lt;10%）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不影響 MAC：</a:t>
            </a:r>
            <a:r>
              <a:rPr lang="en-US" sz="1200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性別、麻醉持續時間、PaO₂（&gt;40 mmHg）、PaCO₂（15–95 mmHg）、血壓（正常範圍）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常用藥物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特性比較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· Desflurane · Isoflurane · N₂O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 常用吸入性麻醉藥物特性比較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3931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Sevoflurane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Desflurane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52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N₂O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 (%)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血/氣係數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誘導速度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甦醒速度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氣道刺激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 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 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 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心血管抑制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輕-中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輕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輕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支氣管擴張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佳 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ICP 影響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特殊毒性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Compd A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CO生成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CO生成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擴散封閉腔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心血管系統影響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心肌收縮力 · SVR · 心律 · 護理監測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 吸入性麻醉藥對心血管系統的影響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51960" cy="4114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心肌抑制（負性肌力）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劑量依賴性抑制心肌收縮力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強度：Halothane &gt; Iso &gt; Sevo ≈ Des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淨效應：CO 通常略降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251960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全身血管阻力（SVR）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所有吸入藥均造成血管擴張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SVR↓ → 血壓下降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 擴張效果最強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51960" cy="41148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34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 特殊效應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快速↑濃度 → 交感神經反射↑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HR↑、BP↑（需緩慢調整濃度）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已預先使用 opioid 可減弱此反應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34640"/>
            <a:ext cx="4251960" cy="4114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834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 心律不整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使心肌對 Catecholamines 敏感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注射 epinephrine 易引起 VT/VF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現已少用；注射劑量需嚴格限制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護理監測重點：持續監測 BP · HR · ECG · SpO₂  ｜  快速低血壓 → 減低濃度 + </a:t>
            </a:r>
            <a:r>
              <a:rPr lang="en-US" sz="11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補Volume</a:t>
            </a: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+ 血管加壓藥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呼吸系統影響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呼吸抑制 · 支氣管效應 · 氣道刺激 · 監測重點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 吸入性麻醉藥對呼吸系統的影響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EF6F0"/>
          </a:solidFill>
          <a:ln w="12700">
            <a:solidFill>
              <a:srgbClr val="FEF6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9611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劑量依賴性呼吸抑制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潮氣量（TV）↓、呼吸頻率（RR）代償↑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每分鐘通氣量（MV）仍下降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CO₂ 反應曲線右移（對 CO₂ 耐受性↑）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呼吸暫停閾值提高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4114800" cy="1600200"/>
          </a:xfrm>
          <a:prstGeom prst="rect">
            <a:avLst/>
          </a:prstGeom>
          <a:solidFill>
            <a:srgbClr val="F0F4EA"/>
          </a:solidFill>
          <a:ln w="12700">
            <a:solidFill>
              <a:srgbClr val="F0F4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8620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氣管支氣管效應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3246120"/>
            <a:ext cx="389534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Sevoflurane：支氣管擴張效果佳 → 氣喘患者首選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Desflurane：氣道刺激強 → 誘導期避免單獨使用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Isoflurane：輕度支氣管擴張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4297680" cy="1828800"/>
          </a:xfrm>
          <a:prstGeom prst="rect">
            <a:avLst/>
          </a:prstGeom>
          <a:solidFill>
            <a:srgbClr val="FEF6F0"/>
          </a:solidFill>
          <a:ln w="12700">
            <a:solidFill>
              <a:srgbClr val="FEF6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89611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 氣道刺激（特別注意）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280160"/>
            <a:ext cx="407822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誘導期（清醒插管）可引起：咳嗽、喉痙攣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黏液分泌物增加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建議：靜脈誘導後再開始 Des 維持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高濃度誘導禁忌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788920"/>
            <a:ext cx="4297680" cy="1600200"/>
          </a:xfrm>
          <a:prstGeom prst="rect">
            <a:avLst/>
          </a:prstGeom>
          <a:solidFill>
            <a:srgbClr val="F0F4EA"/>
          </a:solidFill>
          <a:ln w="12700">
            <a:solidFill>
              <a:srgbClr val="F0F4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81728" y="286207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纖毛功能與分泌物清除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81728" y="3246120"/>
            <a:ext cx="40782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所有吸入藥均抑制纖毛運動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長時間手術→分泌物積聚→肺塌陷風險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術後呼吸道護理的重要性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護理監測：SpO₂ · EtCO₂ · 呼吸音 · 呼吸道分泌物  ｜  EtCO₂ 上升 → 通氣不足 → 調高呼吸器設定或手動輔助通氣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腦神經與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顱內壓影響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腦血流 · ICP · CMRO₂ · 神經外科選藥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 吸入性麻醉藥對腦神經與顱內壓的影響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腦血流（CBF）雙重機制：</a:t>
            </a: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直接血管擴張 → CBF↑（ICP↑）  vs  代謝抑制 → CMRO₂↓ → CO₂↓ → 血管收縮 → CBF↓（ICP↓）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ICP 上升風險（高→低）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914400" y="2249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51560" y="2304288"/>
            <a:ext cx="4572000" cy="23774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3835" y="2020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-914400" y="2660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715768"/>
            <a:ext cx="3200400" cy="23774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6609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-91440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" y="3127248"/>
            <a:ext cx="2286000" cy="237744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30723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-914400" y="3483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3538728"/>
            <a:ext cx="1371600" cy="23774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34838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68267" y="1636776"/>
            <a:ext cx="3063240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8267" y="1635181"/>
            <a:ext cx="73152" cy="105156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8781" y="1682496"/>
            <a:ext cx="2741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CMRO₂ 抑制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41419" y="2020824"/>
            <a:ext cx="289864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腦氧代謝降低→腦保護潛力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EEG 抑制（爆發性抑制 Burst Suppression）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68265" y="2779776"/>
            <a:ext cx="3063241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74860" y="2784561"/>
            <a:ext cx="73152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8781" y="2825496"/>
            <a:ext cx="2741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神經外科選藥原則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54607" y="3044952"/>
            <a:ext cx="288546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控制在 &lt;1.0 MAC + 適度過度通氣（PaCO₂ 30-35）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</a:t>
            </a:r>
            <a:r>
              <a:rPr lang="en-US" sz="1150" dirty="0" err="1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最安全</a:t>
            </a: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/ICP </a:t>
            </a:r>
            <a:r>
              <a:rPr lang="en-US" sz="1150" dirty="0" err="1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影響最小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 在神經外科常需避免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68267" y="3922776"/>
            <a:ext cx="3063240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73158" y="3923307"/>
            <a:ext cx="73152" cy="10515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8781" y="3968496"/>
            <a:ext cx="27412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特殊注意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08404" y="4306824"/>
            <a:ext cx="292310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 err="1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幼兒高濃度誘導</a:t>
            </a:r>
            <a:r>
              <a:rPr lang="en-US" altLang="zh-TW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zh-TW" alt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150" dirty="0" err="1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偶發癲癇樣EEG活動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臨床意義尚不明確，建議維持&lt;1.5 MAC</a:t>
            </a:r>
            <a:endParaRPr lang="en-US" sz="115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F3334838-F7A0-E85C-6FF6-F8D00EEBCAAF}"/>
              </a:ext>
            </a:extLst>
          </p:cNvPr>
          <p:cNvSpPr/>
          <p:nvPr/>
        </p:nvSpPr>
        <p:spPr>
          <a:xfrm>
            <a:off x="5693947" y="2262963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</a:t>
            </a: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Malignant Hyperthermia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RYR1 突變 · 觸發因素 · 緊急處置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 惡性高熱（MH）：病生理與早期徵象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惡性高熱為罕見但致命的麻醉緊急情況，發生時每分鐘都至關重要！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14800" cy="15544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51790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病生理機制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38953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RYR1（Ryanodine Receptor 1）基因突變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誘發劑 → 骨骼肌肌漿網 Ca²⁺ 大量異常釋放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骨骼肌持續收縮 → 高代謝 → 高熱、乳酸酸中毒、橫紋肌溶解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4114800" cy="173736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318211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觸發因素（誘發劑）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566160"/>
            <a:ext cx="3895344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所有揮發性吸入麻醉藥（Sevo、Des、Iso、Hal）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Succinylcholine（琥珀膽鹼）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靜脈麻醉藥（Propofol、Opioids）不觸發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444752"/>
            <a:ext cx="4297680" cy="3401568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1517904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早期警示徵象（按重要性）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1901952"/>
            <a:ext cx="418795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EtCO₂ 急遽上升（最早出現）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心律不整（竇性心跳過速、VT）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肌肉僵硬（咬肌痙攣→全身僵硬）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體溫快速升高（&gt;0.5°C/15分鐘；&gt;40°C）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代謝性酸中毒（pH↓、BE↓）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橫紋肌溶解 → 深色尿（肌紅蛋白尿）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高鉀血症（K⁺↑）→ 心臟毒性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 惡性高熱緊急處置流程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17804"/>
            <a:ext cx="43891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780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717804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7360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立即停用所有誘發劑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7360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停止吸入藥 · 停 Succinylcholine · 更換麻醉迴路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30452"/>
            <a:ext cx="43891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3045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330452"/>
            <a:ext cx="8092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3487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呼叫支援 + 啟動緊急程序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13487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通知外科醫師 · 呼叫協助人員 · 取得MH急救車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943100"/>
            <a:ext cx="43891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431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1943100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9613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Dantrolene 給藥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19613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2.5 mg/kg IV，每5分鐘一次，可重複至 10 mg/kg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555748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55574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2555748"/>
            <a:ext cx="8092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740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積極降溫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5740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冰袋 · 冷靜脈輸液 · 體表冷敷 · 目標：核心溫度 &lt;38.5°C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168396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16839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168396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18668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代謝性酸中毒處理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1866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NaHCO₃ 1-2 mEq/kg IV · 過度通氣 (PaCO₂ 25-30)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781044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78104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3781044"/>
            <a:ext cx="8092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7993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高鉀血症處理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31920" y="37993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葡萄糖 + 胰島素 · CaCl₂ 保護心臟 · 監測ECG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393692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39369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" y="4393692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4119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支持療法 + ICU 轉入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31920" y="44119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尿液鹼化保護腎臟 · 監測24-48小時（復發風險）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Dantrolene：唯一有效解毒藥 | 每瓶需用60ml無菌注射用水溶解 | 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藥物毒性與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特殊注意事項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器官毒性 · 禁忌症 · 環境影響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 藥物毒性與特殊注意事項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54380"/>
            <a:ext cx="4251960" cy="1965960"/>
          </a:xfrm>
          <a:prstGeom prst="rect">
            <a:avLst/>
          </a:prstGeom>
          <a:solidFill>
            <a:srgbClr val="FEF9F0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54380"/>
            <a:ext cx="4251960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543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— Compound A 腎毒性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21158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低流量（&lt;1 L/min）+ Soda Lime → 降解產物 Compound 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動物實驗：腎小管毒性；人體臨床意義仍有爭議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建議：新鮮氣體流量 &gt;2 L/min 或限制 &lt;2 MAC·h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754380"/>
            <a:ext cx="4251960" cy="1965960"/>
          </a:xfrm>
          <a:prstGeom prst="rect">
            <a:avLst/>
          </a:prstGeom>
          <a:solidFill>
            <a:srgbClr val="F0F4EA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54380"/>
            <a:ext cx="4251960" cy="41148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7543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 / Isoflurane — CO 生成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21158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乾燥的 CO₂ 吸收劑（Soda Lime / Baralyme）+揮發藥 → 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風險：長時間未用、週一早晨第一台手術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預防：確認吸收劑顏色新鮮，潮濕狀態使用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57500"/>
            <a:ext cx="4251960" cy="1874520"/>
          </a:xfrm>
          <a:prstGeom prst="rect">
            <a:avLst/>
          </a:prstGeom>
          <a:solidFill>
            <a:srgbClr val="FEF0EC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57500"/>
            <a:ext cx="4251960" cy="4114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575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 — 擴散入封閉腔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331470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 血溶性低 → 快速進入充氣腔（比 N₂ 快34倍）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禁忌：腸梗阻、氣胸、中耳手術、眼內氣體（SF₆）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長時間使用：維生素B12/甲硫氨酸合成酶抑制 → 骨髓抑制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857500"/>
            <a:ext cx="4251960" cy="1874520"/>
          </a:xfrm>
          <a:prstGeom prst="rect">
            <a:avLst/>
          </a:prstGeom>
          <a:solidFill>
            <a:srgbClr val="FEF6F0"/>
          </a:solidFill>
          <a:ln w="12700">
            <a:solidFill>
              <a:srgbClr val="D4C5A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57500"/>
            <a:ext cx="4251960" cy="4114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8575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 — 肝炎（歷史教訓）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31470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輕型（&gt;25%）：可逆性轉氨酶上升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重型（1/30000）：免疫介導的暴發性肝炎，死亡率高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重複暴露風險倍增 → 現代臨床幾乎已淘汰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4786884"/>
            <a:ext cx="859536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868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職業暴露與環境：</a:t>
            </a: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廢氣排除系統（Scavenging）必須正常運作  ｜  N₂O、揮發藥均為強效溫室氣體  ｜  定期環境濃度監測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臨床重點整理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誘導速度快慢由血/氣分配係數決定：Des最快，Iso最慢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18488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18488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618488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是 ED₅₀（非 ED₁₀₀），臨床需用 1.3 MAC 以上才達到可靠效果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14016"/>
            <a:ext cx="384048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14016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心衰竭患者：CO↓→誘導更快，劑量需減少！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209544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09544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09544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209544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Sevoflurane：氣喘/小兒首選；低流量&lt;1L/min需注意 Compound 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05072"/>
            <a:ext cx="384048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05072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005072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Desflurane：快速增濃度→交感興奮；不可用於清醒誘導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822960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822960"/>
            <a:ext cx="384048" cy="70408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822960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822960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N₂O禁忌：腸梗阻、氣胸、中耳術、眼內SF₆氣體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618488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618488"/>
            <a:ext cx="384048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618488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1618488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EtCO₂ 急升是惡性高熱最早出現的警訊！立即停用誘發劑+呼叫支援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2414016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414016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414016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2414016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Dantrolene 2.5 mg/kg IV 是治療惡性高熱的唯一解藥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09160" y="3209544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209544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209544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66360" y="3209544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神經外科：Sevoflurane 對ICP影響最小；避免高濃度+頭低位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09160" y="4005072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4005072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005072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66360" y="4005072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廢氣排除系統必須正常：保護工作人員免受職業暴露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快速參考：吸入性麻醉藥關鍵數值一覽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362620"/>
              </p:ext>
            </p:extLst>
          </p:nvPr>
        </p:nvGraphicFramePr>
        <p:xfrm>
          <a:off x="182880" y="804672"/>
          <a:ext cx="8778240" cy="252374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藥物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MAC(%)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C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血氣係數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誘導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52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氣道刺激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特殊注意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Sevoflurane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Compound A (低流量)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Desflurane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快↑濃度→交感亢奮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Isoflurane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Coronary Steal?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N₂O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封閉腔禁忌 / B12毒</a:t>
                      </a:r>
                      <a:r>
                        <a:rPr lang="zh-TW" alt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Halothane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肝炎 / 心律不整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657600"/>
            <a:ext cx="4297680" cy="1280160"/>
          </a:xfrm>
          <a:prstGeom prst="rect">
            <a:avLst/>
          </a:prstGeom>
          <a:solidFill>
            <a:srgbClr val="FEF6F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3657600"/>
            <a:ext cx="4297680" cy="34747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5"/>
          <p:cNvSpPr/>
          <p:nvPr/>
        </p:nvSpPr>
        <p:spPr>
          <a:xfrm>
            <a:off x="265814" y="3657600"/>
            <a:ext cx="40775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" y="404164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</a:rPr>
              <a:t>↑ </a:t>
            </a:r>
            <a:r>
              <a:rPr lang="en-US" sz="1200" dirty="0" err="1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</a:rPr>
              <a:t>MAC：高熱、慢性飲酒、嬰幼兒、興奮劑</a:t>
            </a:r>
            <a:endParaRPr lang="en-US" sz="1200" dirty="0">
              <a:solidFill>
                <a:srgbClr val="2C1A0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endParaRPr lang="en-US" sz="1200" dirty="0">
              <a:solidFill>
                <a:srgbClr val="2C1A0A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MAC：高齡(-6%/10年)、懷孕(-30%)、低體溫(-5%/°C)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阿片類、鎮靜藥、嚴重低血壓、嚴重貧血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3657600"/>
            <a:ext cx="4297680" cy="12801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3657600"/>
            <a:ext cx="4297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3657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惡性高熱緊急記憶口訣（CHEAT）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404164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C-Call for help  H-Hyperventilate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E-End trigger agents  A-Administer Dantrolene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T-Treat complications</a:t>
            </a:r>
            <a:endParaRPr lang="en-US" sz="115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DED7761-6B6C-E735-576F-5026935A837D}"/>
              </a:ext>
            </a:extLst>
          </p:cNvPr>
          <p:cNvSpPr/>
          <p:nvPr/>
        </p:nvSpPr>
        <p:spPr>
          <a:xfrm>
            <a:off x="320040" y="3661569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dirty="0">
                <a:solidFill>
                  <a:schemeClr val="bg1"/>
                </a:solidFill>
              </a:rPr>
              <a:t>影響</a:t>
            </a:r>
            <a:r>
              <a:rPr lang="en-US" altLang="zh-TW" sz="1200" dirty="0">
                <a:solidFill>
                  <a:schemeClr val="bg1"/>
                </a:solidFill>
              </a:rPr>
              <a:t>MAC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1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3D2810"/>
          </a:solidFill>
          <a:ln w="12700">
            <a:solidFill>
              <a:srgbClr val="3D28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286000" cy="548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課程總結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吸入性麻醉藥的核心特性由溶解度（血/氣係數）與效能（MAC）決定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zh-TW" alt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術中維持</a:t>
            </a:r>
            <a:r>
              <a:rPr lang="en-GB" altLang="zh-TW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0.7-1.2MAC</a:t>
            </a:r>
            <a:r>
              <a:rPr lang="en-US" altLang="zh-TW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經驗性</a:t>
            </a:r>
            <a:r>
              <a:rPr lang="en-US" altLang="zh-TW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r>
              <a:rPr lang="zh-TW" alt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熟悉吸入性麻醉藥對於心血管</a:t>
            </a:r>
            <a:r>
              <a:rPr lang="en-US" altLang="zh-TW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r>
              <a:rPr lang="zh-TW" alt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呼吸道</a:t>
            </a:r>
            <a:r>
              <a:rPr lang="en-GB" altLang="zh-TW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r>
              <a:rPr lang="zh-TW" altLang="en-US" sz="140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腦神經系統影響</a:t>
            </a:r>
            <a:endParaRPr lang="en-US" sz="1400" dirty="0">
              <a:solidFill>
                <a:srgbClr val="E8D5B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 err="1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惡性高熱罕見但致命</a:t>
            </a: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——EtCO₂ 急升即警覺，立即啟動緊急程序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3566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問與答 Q &amp; 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秀傳醫療體系 </a:t>
            </a:r>
            <a:r>
              <a:rPr lang="en-US" sz="1200" dirty="0" err="1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麻醉科</a:t>
            </a:r>
            <a:r>
              <a:rPr lang="en-US" sz="1200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zh-TW" altLang="en-US" sz="1200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梁婷瑋</a:t>
            </a:r>
            <a:r>
              <a:rPr lang="en-US" sz="1200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 麻醉科護理師訓練班 | 2026年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1758</Words>
  <Application>Microsoft Office PowerPoint</Application>
  <PresentationFormat>如螢幕大小 (16:9)</PresentationFormat>
  <Paragraphs>510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4" baseType="lpstr">
      <vt:lpstr>Microsoft JhengHei</vt:lpstr>
      <vt:lpstr>Arial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吸入性麻醉藥 麻訓班教學</dc:title>
  <dc:subject>PptxGenJS Presentation</dc:subject>
  <dc:creator>秀傳醫療體系 麻醉科</dc:creator>
  <cp:lastModifiedBy>婷瑋 梁</cp:lastModifiedBy>
  <cp:revision>2</cp:revision>
  <dcterms:created xsi:type="dcterms:W3CDTF">2026-04-15T01:47:10Z</dcterms:created>
  <dcterms:modified xsi:type="dcterms:W3CDTF">2026-05-07T13:25:19Z</dcterms:modified>
</cp:coreProperties>
</file>