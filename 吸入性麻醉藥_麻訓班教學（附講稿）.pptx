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【開場白 — 建議 2-3 分鐘】</a:t>
            </a:r>
          </a:p>
          <a:p/>
          <a:p>
            <a:r>
              <a:rPr sz="1100"/>
              <a:t>各位同學好，歡迎來到今天的麻訓班課程。我是麻醉科的____醫師。</a:t>
            </a:r>
          </a:p>
          <a:p/>
          <a:p>
            <a:r>
              <a:rPr sz="1100"/>
              <a:t>今天我們要討論的主題是「吸入性麻醉藥」。對新進麻醉護理師來說，這是每天都會接觸到的藥物，但它的藥理特性跟我們熟悉的靜脈注射藥物非常不一樣。</a:t>
            </a:r>
          </a:p>
          <a:p/>
          <a:p>
            <a:r>
              <a:rPr sz="1100"/>
              <a:t>很多護理師會問我：為什麼術後病人有時清醒得很快，有時又要等很久？為什麼氣喘病人要特別選某種麻醉藥？又或者，聽說有一種叫「惡性高熱」的急症非常危險——那到底是什麼？</a:t>
            </a:r>
          </a:p>
          <a:p/>
          <a:p>
            <a:r>
              <a:rPr sz="1100"/>
              <a:t>這些問題，今天這堂課都會回答。</a:t>
            </a:r>
          </a:p>
          <a:p/>
          <a:p>
            <a:r>
              <a:rPr sz="1100"/>
              <a:t>我們今天的內容分為 12 個重點，從藥物的基本分類、藥理動力學、到臨床用藥選擇、器官系統影響，以及最重要的——安全警示。</a:t>
            </a:r>
          </a:p>
          <a:p/>
          <a:p>
            <a:r>
              <a:rPr sz="1100"/>
              <a:t>希望大家學完之後，能夠對手術室裡飄散的那些氣體，有更深一層的了解和掌握。</a:t>
            </a:r>
          </a:p>
          <a:p/>
          <a:p>
            <a:r>
              <a:rPr sz="1100"/>
              <a:t>我們開始吧！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【說明大綱 — 建議 1 分鐘】</a:t>
            </a:r>
          </a:p>
          <a:p/>
          <a:p>
            <a:r>
              <a:rPr sz="1100"/>
              <a:t>這是我們今天的課程大綱，共 12 個重點。</a:t>
            </a:r>
          </a:p>
          <a:p/>
          <a:p>
            <a:r>
              <a:rPr sz="1100"/>
              <a:t>我先幫大家快速預覽一下邏輯順序：</a:t>
            </a:r>
          </a:p>
          <a:p/>
          <a:p>
            <a:r>
              <a:rPr sz="1100"/>
              <a:t>首先，我們從「是什麼」開始——吸入性麻醉藥的定義和分類。</a:t>
            </a:r>
          </a:p>
          <a:p>
            <a:r>
              <a:rPr sz="1100"/>
              <a:t>接著是「怎麼進去大腦的」——藥物動力學路徑。</a:t>
            </a:r>
          </a:p>
          <a:p>
            <a:r>
              <a:rPr sz="1100"/>
              <a:t>然後是「什麼決定快慢」——吸收影響因素、分配係數。</a:t>
            </a:r>
          </a:p>
          <a:p>
            <a:r>
              <a:rPr sz="1100"/>
              <a:t>再來是「怎麼量效果」——MAC 的定義和影響因素。</a:t>
            </a:r>
          </a:p>
          <a:p>
            <a:r>
              <a:rPr sz="1100"/>
              <a:t>中段會做常用藥物的整體比較。</a:t>
            </a:r>
          </a:p>
          <a:p>
            <a:r>
              <a:rPr sz="1100"/>
              <a:t>後半段聚焦在對各器官系統的影響：心臟、呼吸道、腦。</a:t>
            </a:r>
          </a:p>
          <a:p>
            <a:r>
              <a:rPr sz="1100"/>
              <a:t>最後兩個重點是安全警示：惡性高熱和各種毒性注意事項。</a:t>
            </a:r>
          </a:p>
          <a:p/>
          <a:p>
            <a:r>
              <a:rPr sz="1100"/>
              <a:t>這是一個從機轉理解到臨床應用的完整路徑。課程中如果有問題，請隨時舉手。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【章節引導 — 建議 30 秒】</a:t>
            </a:r>
          </a:p>
          <a:p/>
          <a:p>
            <a:r>
              <a:rPr sz="1100"/>
              <a:t>我們先從最基礎的開始——吸入性麻醉藥到底是什麼？</a:t>
            </a:r>
          </a:p>
          <a:p/>
          <a:p>
            <a:r>
              <a:rPr sz="1100"/>
              <a:t>在進入內容之前，我想先問大家一個問題：</a:t>
            </a:r>
          </a:p>
          <a:p>
            <a:r>
              <a:rPr sz="1100"/>
              <a:t>你們在手術室幫忙打開麻醉機的時候，有沒有注意到那些刻度盤上寫的 Sevoflurane、Desflurane 這些名字？</a:t>
            </a:r>
          </a:p>
          <a:p/>
          <a:p>
            <a:r>
              <a:rPr sz="1100"/>
              <a:t>那些就是今天我們要認識的主角。讓我們來看看它們的家族成員和共同特性。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【第一章內容 — 建議 4-5 分鐘】</a:t>
            </a:r>
          </a:p>
          <a:p/>
          <a:p>
            <a:r>
              <a:rPr sz="1100"/>
              <a:t>【定義】</a:t>
            </a:r>
          </a:p>
          <a:p>
            <a:r>
              <a:rPr sz="1100"/>
              <a:t>吸入性麻醉藥，顧名思義就是「吸入」才能產生效果的藥。</a:t>
            </a:r>
          </a:p>
          <a:p>
            <a:r>
              <a:rPr sz="1100"/>
              <a:t>病人從面罩或氣管內管吸入之後，藥物進入肺泡，溶解進血液，再被帶到大腦，讓病人失去意識。</a:t>
            </a:r>
          </a:p>
          <a:p>
            <a:r>
              <a:rPr sz="1100"/>
              <a:t>這跟打靜脈注射（例如 Propofol）最大的不同，是藥物的入口和出口都是「肺」。</a:t>
            </a:r>
          </a:p>
          <a:p/>
          <a:p>
            <a:r>
              <a:rPr sz="1100"/>
              <a:t>【分類】</a:t>
            </a:r>
          </a:p>
          <a:p>
            <a:r>
              <a:rPr sz="1100"/>
              <a:t>大家看右邊這兩個框框。</a:t>
            </a:r>
          </a:p>
          <a:p/>
          <a:p>
            <a:r>
              <a:rPr sz="1100"/>
              <a:t>揮發性麻醉藥——這些在常溫下是液態，需要透過「揮發器」（Vaporizer）把它們氣化之後才能使用。</a:t>
            </a:r>
          </a:p>
          <a:p>
            <a:r>
              <a:rPr sz="1100"/>
              <a:t>臨床上最常見的是 Sevoflurane，你們在手術室幾乎每天都會看到這瓶紫色蓋子的液體。</a:t>
            </a:r>
          </a:p>
          <a:p>
            <a:r>
              <a:rPr sz="1100"/>
              <a:t>Desflurane 是甦醒最快的，Isoflurane 比較老，Halothane 現在已幾乎淘汰了。</a:t>
            </a:r>
          </a:p>
          <a:p/>
          <a:p>
            <a:r>
              <a:rPr sz="1100"/>
              <a:t>氣體麻醉藥——這些本身就是氣體，最常見的是 N₂O（笑氣）。</a:t>
            </a:r>
          </a:p>
          <a:p>
            <a:r>
              <a:rPr sz="1100"/>
              <a:t>N₂O 很特別，它單獨用無法讓人完全失去意識，所以通常作為「輔助」用。</a:t>
            </a:r>
          </a:p>
          <a:p/>
          <a:p>
            <a:r>
              <a:rPr sz="1100"/>
              <a:t>【作用機轉】</a:t>
            </a:r>
          </a:p>
          <a:p>
            <a:r>
              <a:rPr sz="1100"/>
              <a:t>這些藥物主要的作用機轉有兩個：</a:t>
            </a:r>
          </a:p>
          <a:p>
            <a:r>
              <a:rPr sz="1100"/>
              <a:t>第一，增強 GABA-A 受體的抑制效果——就像踩煞車，讓神經系統慢下來。</a:t>
            </a:r>
          </a:p>
          <a:p>
            <a:r>
              <a:rPr sz="1100"/>
              <a:t>第二，抑制 NMDA 受體——這是一種興奮性受體，被壓制之後大腦就更難保持清醒。</a:t>
            </a:r>
          </a:p>
          <a:p/>
          <a:p>
            <a:r>
              <a:rPr sz="1100"/>
              <a:t>記住這兩個機轉就夠了，考試很愛考。</a:t>
            </a:r>
          </a:p>
          <a:p/>
          <a:p>
            <a:r>
              <a:rPr sz="1100"/>
              <a:t>【護理重點】</a:t>
            </a:r>
          </a:p>
          <a:p>
            <a:r>
              <a:rPr sz="1100"/>
              <a:t>作為麻醉護理師，你需要認識各藥物的外觀（顏色的標示）、揮發器的操作方式，以及每種藥物的基本特性。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【章節引導 — 建議 30 秒】</a:t>
            </a:r>
          </a:p>
          <a:p/>
          <a:p>
            <a:r>
              <a:rPr sz="1100"/>
              <a:t>好，知道了藥物的分類之後，接下來最關鍵的問題是：</a:t>
            </a:r>
          </a:p>
          <a:p>
            <a:r>
              <a:rPr sz="1100"/>
              <a:t>這些藥物是怎麼從揮發器，一路跑到病人大腦的？</a:t>
            </a:r>
          </a:p>
          <a:p/>
          <a:p>
            <a:r>
              <a:rPr sz="1100"/>
              <a:t>這段路徑，就是所謂的「藥物動力學」。</a:t>
            </a:r>
          </a:p>
          <a:p/>
          <a:p>
            <a:r>
              <a:rPr sz="1100"/>
              <a:t>這個概念很重要，因為它能解釋為什麼有些病人「麻醉起效很快」、有些「醒來很慢」——這些都跟路徑上的每個環節有關係。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【第二章內容 — 建議 5-6 分鐘】</a:t>
            </a:r>
          </a:p>
          <a:p/>
          <a:p>
            <a:r>
              <a:rPr sz="1100"/>
              <a:t>【傳遞路徑】</a:t>
            </a:r>
          </a:p>
          <a:p>
            <a:r>
              <a:rPr sz="1100"/>
              <a:t>請大家看這個流程圖。</a:t>
            </a:r>
          </a:p>
          <a:p/>
          <a:p>
            <a:r>
              <a:rPr sz="1100"/>
              <a:t>藥物的旅程是這樣的：</a:t>
            </a:r>
          </a:p>
          <a:p>
            <a:r>
              <a:rPr sz="1100"/>
              <a:t>揮發器 → 麻醉回路 → 肺泡 → 動脈血 → 大腦</a:t>
            </a:r>
          </a:p>
          <a:p/>
          <a:p>
            <a:r>
              <a:rPr sz="1100"/>
              <a:t>第一站：揮發器。揮發器把液態麻醉藥氣化，輸出一定濃度的藥氣，這個濃度我們叫做「FI」，也就是吸入濃度（Inspired concentration）。</a:t>
            </a:r>
          </a:p>
          <a:p/>
          <a:p>
            <a:r>
              <a:rPr sz="1100"/>
              <a:t>第二站：肺泡。藥氣進入肺泡，在這裡開始跟血液交換。肺泡裡的濃度我們叫「FA」（Alveolar concentration）。</a:t>
            </a:r>
          </a:p>
          <a:p/>
          <a:p>
            <a:r>
              <a:rPr sz="1100"/>
              <a:t>第三站：血液。藥物溶解到血液裡，被心臟泵送到全身。</a:t>
            </a:r>
          </a:p>
          <a:p/>
          <a:p>
            <a:r>
              <a:rPr sz="1100"/>
              <a:t>第四站：大腦。血液把藥物送到腦部，藥物作用在神經細胞上，病人就失去意識了。</a:t>
            </a:r>
          </a:p>
          <a:p/>
          <a:p>
            <a:r>
              <a:rPr sz="1100"/>
              <a:t>【FA/FI 比值——這是關鍵指標】</a:t>
            </a:r>
          </a:p>
          <a:p>
            <a:r>
              <a:rPr sz="1100"/>
              <a:t>FA/FI 這個比值，是我們判斷「誘導速度快慢」的核心指標。</a:t>
            </a:r>
          </a:p>
          <a:p/>
          <a:p>
            <a:r>
              <a:rPr sz="1100"/>
              <a:t>當 FA/FI = 1.0，代表肺泡濃度已經等於吸入濃度，表示藥物的吸收「飽和」了，這時候維持麻醉的效果最穩定。</a:t>
            </a:r>
          </a:p>
          <a:p/>
          <a:p>
            <a:r>
              <a:rPr sz="1100"/>
              <a:t>問題是：FA 要多快才能接近 FI？</a:t>
            </a:r>
          </a:p>
          <a:p/>
          <a:p>
            <a:r>
              <a:rPr sz="1100"/>
              <a:t>這就取決於各藥物的「溶解度」——也就是下一章我們要講的「血氣分配係數」。</a:t>
            </a:r>
          </a:p>
          <a:p/>
          <a:p>
            <a:r>
              <a:rPr sz="1100"/>
              <a:t>【誘導速度比較】</a:t>
            </a:r>
          </a:p>
          <a:p>
            <a:r>
              <a:rPr sz="1100"/>
              <a:t>從圖表可以看到：</a:t>
            </a:r>
          </a:p>
          <a:p>
            <a:r>
              <a:rPr sz="1100"/>
              <a:t>Desflurane 最快——它在血液裡溶解度最低，FA 上升最快。</a:t>
            </a:r>
          </a:p>
          <a:p>
            <a:r>
              <a:rPr sz="1100"/>
              <a:t>Sevoflurane 次之——臨床上誘導很快，通常 3-5 分鐘就能完成。</a:t>
            </a:r>
          </a:p>
          <a:p>
            <a:r>
              <a:rPr sz="1100"/>
              <a:t>Isoflurane 最慢——現在比較少用於誘導。</a:t>
            </a:r>
          </a:p>
          <a:p/>
          <a:p>
            <a:r>
              <a:rPr sz="1100"/>
              <a:t>臨床意義：Des 和 Sevo 誘導快，甦醒也快，特別適合門診手術。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【章節引導 — 建議 30 秒】</a:t>
            </a:r>
          </a:p>
          <a:p/>
          <a:p>
            <a:r>
              <a:rPr sz="1100"/>
              <a:t>剛才我們說，FA 上升的速度，決定了誘導的快慢。</a:t>
            </a:r>
          </a:p>
          <a:p/>
          <a:p>
            <a:r>
              <a:rPr sz="1100"/>
              <a:t>那麼，到底什麼因素會影響 FA 的上升速度呢？</a:t>
            </a:r>
          </a:p>
          <a:p/>
          <a:p>
            <a:r>
              <a:rPr sz="1100"/>
              <a:t>答案是三個關鍵因素，我們接下來一一介紹。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【第三章內容 — 建議 6-7 分鐘】</a:t>
            </a:r>
          </a:p>
          <a:p/>
          <a:p>
            <a:r>
              <a:rPr sz="1100"/>
              <a:t>吸收三大影響因素，請大家記住這三個詞：溶解度、心輸出量、分壓差。</a:t>
            </a:r>
          </a:p>
          <a:p/>
          <a:p>
            <a:r>
              <a:rPr sz="1100"/>
              <a:t>【因素一：溶解度（血/氣分配係數）】</a:t>
            </a:r>
          </a:p>
          <a:p>
            <a:r>
              <a:rPr sz="1100"/>
              <a:t>血/氣分配係數，是指藥物在血液和氣體中的分佈比例。</a:t>
            </a:r>
          </a:p>
          <a:p/>
          <a:p>
            <a:r>
              <a:rPr sz="1100"/>
              <a:t>係數越低：血液「不愛」溶解這個藥 → 藥比較容易留在肺泡 → FA 上升快 → 誘導快、甦醒也快。</a:t>
            </a:r>
          </a:p>
          <a:p>
            <a:r>
              <a:rPr sz="1100"/>
              <a:t>係數越高：血液「很愛」溶解這個藥 → 大量藥物溶入血液 → FA 上升慢 → 誘導慢、甦醒也慢。</a:t>
            </a:r>
          </a:p>
          <a:p/>
          <a:p>
            <a:r>
              <a:rPr sz="1100"/>
              <a:t>舉例：Desflurane 係數 0.45，Sevoflurane 0.65，Isoflurane 1.4。</a:t>
            </a:r>
          </a:p>
          <a:p>
            <a:r>
              <a:rPr sz="1100"/>
              <a:t>你看，Iso 的溶解度是 Sevo 的兩倍多，誘導自然慢很多。</a:t>
            </a:r>
          </a:p>
          <a:p/>
          <a:p>
            <a:r>
              <a:rPr sz="1100"/>
              <a:t>【因素二：心輸出量（Cardiac Output）】</a:t>
            </a:r>
          </a:p>
          <a:p>
            <a:r>
              <a:rPr sz="1100"/>
              <a:t>CO 越高，肺血流越多，藥物被帶走的量越多 → FA 上升越慢 → 誘導越慢。</a:t>
            </a:r>
          </a:p>
          <a:p/>
          <a:p>
            <a:r>
              <a:rPr sz="1100"/>
              <a:t>重要臨床情境：心臟衰竭的病人 CO 很低，藥物留在肺泡裡，FA 上升超快——這些病人誘導速度快，劑量必須減少！</a:t>
            </a:r>
          </a:p>
          <a:p>
            <a:r>
              <a:rPr sz="1100"/>
              <a:t>反過來，嬰幼兒 CO 較高（相對體重），誘導反而需要稍微多一點的濃度。</a:t>
            </a:r>
          </a:p>
          <a:p/>
          <a:p>
            <a:r>
              <a:rPr sz="1100"/>
              <a:t>這個概念在臨床上非常實用。當你看到心衰竭病人要做手術，麻醉醫師通常會把揮發器調很低，原因就在這裡。</a:t>
            </a:r>
          </a:p>
          <a:p/>
          <a:p>
            <a:r>
              <a:rPr sz="1100"/>
              <a:t>【因素三：肺泡-靜脈分壓差】</a:t>
            </a:r>
          </a:p>
          <a:p>
            <a:r>
              <a:rPr sz="1100"/>
              <a:t>組織從血液「拉走」藥物的能力，會影響靜脈血回到肺部時的藥物濃度。</a:t>
            </a:r>
          </a:p>
          <a:p/>
          <a:p>
            <a:r>
              <a:rPr sz="1100"/>
              <a:t>剛開始誘導時，組織（特別是富血管的腦、心臟）大量吸收藥物 → 靜脈血藥濃度很低 → 分壓差大 → 血液吸收多 → FA 上升慢。</a:t>
            </a:r>
          </a:p>
          <a:p>
            <a:r>
              <a:rPr sz="1100"/>
              <a:t>隨著組織慢慢飽和（先是 VRG 富血管群，再來肌肉，最後是脂肪）→ 靜脈血藥濃度逐漸上升 → FA 上升加速。</a:t>
            </a:r>
          </a:p>
          <a:p/>
          <a:p>
            <a:r>
              <a:rPr sz="1100"/>
              <a:t>這就是為什麼麻醉誘導的前幾分鐘比較難控制，因為組織分壓差一直在變。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【章節引導 — 建議 30 秒】</a:t>
            </a:r>
          </a:p>
          <a:p/>
          <a:p>
            <a:r>
              <a:rPr sz="1100"/>
              <a:t>剛才提到了「血/氣分配係數」這個概念，現在我們來做一個具體的數值比較。</a:t>
            </a:r>
          </a:p>
          <a:p/>
          <a:p>
            <a:r>
              <a:rPr sz="1100"/>
              <a:t>這些數字非常重要，請大家拿筆記下來——考試一定會考，而且臨床上也常用到。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【第四章內容 — 建議 4-5 分鐘】</a:t>
            </a:r>
          </a:p>
          <a:p/>
          <a:p>
            <a:r>
              <a:rPr sz="1100"/>
              <a:t>【各藥物數值比較】</a:t>
            </a:r>
          </a:p>
          <a:p>
            <a:r>
              <a:rPr sz="1100"/>
              <a:t>請看左邊這個橫條圖。條越短 = 係數越低 = 誘導越快。</a:t>
            </a:r>
          </a:p>
          <a:p/>
          <a:p>
            <a:r>
              <a:rPr sz="1100"/>
              <a:t>Desflurane：0.45 — 血液裡最不容易溶解，所以誘導和甦醒都最快。</a:t>
            </a:r>
          </a:p>
          <a:p>
            <a:r>
              <a:rPr sz="1100"/>
              <a:t>N₂O：0.47 — 跟 Des 差不多，所以 N₂O 很快就能產生效果。</a:t>
            </a:r>
          </a:p>
          <a:p>
            <a:r>
              <a:rPr sz="1100"/>
              <a:t>Sevoflurane：0.65 — 臨床上用最多，算是中偏快。</a:t>
            </a:r>
          </a:p>
          <a:p>
            <a:r>
              <a:rPr sz="1100"/>
              <a:t>Isoflurane：1.4 — 比 Sevo 慢兩倍多。</a:t>
            </a:r>
          </a:p>
          <a:p>
            <a:r>
              <a:rPr sz="1100"/>
              <a:t>Halothane：2.4 — 歷史藥物，最慢，現已幾乎淘汰。</a:t>
            </a:r>
          </a:p>
          <a:p/>
          <a:p>
            <a:r>
              <a:rPr sz="1100"/>
              <a:t>【記憶口訣】</a:t>
            </a:r>
          </a:p>
          <a:p>
            <a:r>
              <a:rPr sz="1100"/>
              <a:t>可以這樣記：D-N-S-I-H（Des、N₂O、Sevo、Iso、Hal），數值從小到大，速度從快到慢。</a:t>
            </a:r>
          </a:p>
          <a:p/>
          <a:p>
            <a:r>
              <a:rPr sz="1100"/>
              <a:t>【Meyer-Overton Rule】</a:t>
            </a:r>
          </a:p>
          <a:p>
            <a:r>
              <a:rPr sz="1100"/>
              <a:t>大家注意右下角這個特別說明：油/氣分配係數越高，代表藥物脂溶性越高，麻醉效能越強（MAC 越低）。</a:t>
            </a:r>
          </a:p>
          <a:p>
            <a:r>
              <a:rPr sz="1100"/>
              <a:t>這就是為什麼 Halothane 的 MAC 只有 0.75%，非常小量就很有效——因為它脂溶性極高。</a:t>
            </a:r>
          </a:p>
          <a:p>
            <a:r>
              <a:rPr sz="1100"/>
              <a:t>而 N₂O 雖然血氣係數小（吸收快），油/氣係數卻很低，代表它效能很差，這就是為什麼 N₂O 單獨使用無法完成麻醉。</a:t>
            </a:r>
          </a:p>
          <a:p/>
          <a:p>
            <a:r>
              <a:rPr sz="1100"/>
              <a:t>【護理臨床意義】</a:t>
            </a:r>
          </a:p>
          <a:p>
            <a:r>
              <a:rPr sz="1100"/>
              <a:t>了解這些數值，可以讓你預測病人的甦醒時間。</a:t>
            </a:r>
          </a:p>
          <a:p>
            <a:r>
              <a:rPr sz="1100"/>
              <a:t>長時間手術用 Iso 的病人，術後甦醒可能比較慢，需要多一點耐心等待。</a:t>
            </a:r>
          </a:p>
          <a:p>
            <a:r>
              <a:rPr sz="1100"/>
              <a:t>用 Des 的病人，可能手術還沒縫完就要開始動了，護理師要有心理準備。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【章節引導 — 建議 30 秒】</a:t>
            </a:r>
          </a:p>
          <a:p/>
          <a:p>
            <a:r>
              <a:rPr sz="1100"/>
              <a:t>學完了藥物動力學之後，我們進入另一個非常核心的概念——MAC。</a:t>
            </a:r>
          </a:p>
          <a:p/>
          <a:p>
            <a:r>
              <a:rPr sz="1100"/>
              <a:t>MAC 是評估吸入性麻醉藥「效能」的標準指標，就像是我們說打多少 mg 的 Propofol 才夠，MAC 就是吸入性麻醉藥的「劑量指標」。</a:t>
            </a:r>
          </a:p>
          <a:p/>
          <a:p>
            <a:r>
              <a:rPr sz="1100"/>
              <a:t>請大家把這個概念的定義記清楚，這是麻醉考試的必考題。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【第五章內容 — 建議 6-7 分鐘】</a:t>
            </a:r>
          </a:p>
          <a:p/>
          <a:p>
            <a:r>
              <a:rPr sz="1100"/>
              <a:t>【MAC 定義】</a:t>
            </a:r>
          </a:p>
          <a:p>
            <a:r>
              <a:rPr sz="1100"/>
              <a:t>MAC = Minimum Alveolar Concentration，最低肺泡濃度。</a:t>
            </a:r>
          </a:p>
          <a:p/>
          <a:p>
            <a:r>
              <a:rPr sz="1100"/>
              <a:t>完整定義：「在 37°C、1 大氣壓、100% 純氧的條件下，使 50% 受試者對切皮刺激沒有體動反應的最低肺泡麻醉藥濃度。」</a:t>
            </a:r>
          </a:p>
          <a:p/>
          <a:p>
            <a:r>
              <a:rPr sz="1100"/>
              <a:t>注意幾個關鍵詞：</a:t>
            </a:r>
          </a:p>
          <a:p>
            <a:r>
              <a:rPr sz="1100"/>
              <a:t>第一，「50%」——這表示 MAC 是 ED₅₀，只有一半的人沒反應，不是所有人。</a:t>
            </a:r>
          </a:p>
          <a:p>
            <a:r>
              <a:rPr sz="1100"/>
              <a:t>第二，「體動反應」——測量的標準是「不動」，不是「無意識」或「不痛」。</a:t>
            </a:r>
          </a:p>
          <a:p>
            <a:r>
              <a:rPr sz="1100"/>
              <a:t>第三，「肺泡濃度」——不是吸入濃度，是肺泡裡的實際濃度。</a:t>
            </a:r>
          </a:p>
          <a:p/>
          <a:p>
            <a:r>
              <a:rPr sz="1100"/>
              <a:t>【各藥物 MAC 值】</a:t>
            </a:r>
          </a:p>
          <a:p>
            <a:r>
              <a:rPr sz="1100"/>
              <a:t>請看表格：</a:t>
            </a:r>
          </a:p>
          <a:p/>
          <a:p>
            <a:r>
              <a:rPr sz="1100"/>
              <a:t>N₂O：104% — 代表要超過大氣壓的濃度才達到 MAC，所以在常壓下無法單獨麻醉。</a:t>
            </a:r>
          </a:p>
          <a:p>
            <a:r>
              <a:rPr sz="1100"/>
              <a:t>Desflurane：6.6%</a:t>
            </a:r>
          </a:p>
          <a:p>
            <a:r>
              <a:rPr sz="1100"/>
              <a:t>Sevoflurane：2.0% — 臨床上最常用。記住 2%！</a:t>
            </a:r>
          </a:p>
          <a:p>
            <a:r>
              <a:rPr sz="1100"/>
              <a:t>Isoflurane：1.15%</a:t>
            </a:r>
          </a:p>
          <a:p>
            <a:r>
              <a:rPr sz="1100"/>
              <a:t>Halothane：0.75% — 效能最強，但毒性也最多。</a:t>
            </a:r>
          </a:p>
          <a:p/>
          <a:p>
            <a:r>
              <a:rPr sz="1100"/>
              <a:t>【MAC 臨床應用倍數——護理師必須牢記】</a:t>
            </a:r>
          </a:p>
          <a:p>
            <a:r>
              <a:rPr sz="1100"/>
              <a:t>0.3-0.5 MAC：輕度鎮靜，病人還有意識但比較放鬆。術前給藥、換藥時常用。</a:t>
            </a:r>
          </a:p>
          <a:p>
            <a:r>
              <a:rPr sz="1100"/>
              <a:t>1.0 MAC：50% 病人無體動——這是 ED₅₀，手術不一定安全。</a:t>
            </a:r>
          </a:p>
          <a:p>
            <a:r>
              <a:rPr sz="1100"/>
              <a:t>1.3 MAC：95% 病人無體動（ED₉₅）——臨床上氣管插管時常用這個濃度。</a:t>
            </a:r>
          </a:p>
          <a:p>
            <a:r>
              <a:rPr sz="1100"/>
              <a:t>≥1.5 MAC：深度麻醉，維持穩定的手術麻醉。</a:t>
            </a:r>
          </a:p>
          <a:p/>
          <a:p>
            <a:r>
              <a:rPr sz="1100"/>
              <a:t>記住：麻醉機上的濃度刻度和 MAC 的倍數關係，是我們臨床判斷麻醉深度的重要參考。</a:t>
            </a:r>
          </a:p>
          <a:p/>
          <a:p>
            <a:r>
              <a:rPr sz="1100"/>
              <a:t>如果 Sevoflurane 的 MAC 是 2%，那麼維持麻醉時我們通常調在 2-3%（也就是 1.0-1.5 MAC）之間。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【章節引導 — 建議 30 秒】</a:t>
            </a:r>
          </a:p>
          <a:p/>
          <a:p>
            <a:r>
              <a:rPr sz="1100"/>
              <a:t>好，知道了 MAC 的定義之後，有一個非常重要的臨床觀念：</a:t>
            </a:r>
          </a:p>
          <a:p/>
          <a:p>
            <a:r>
              <a:rPr sz="1100"/>
              <a:t>MAC 不是固定的！</a:t>
            </a:r>
          </a:p>
          <a:p/>
          <a:p>
            <a:r>
              <a:rPr sz="1100"/>
              <a:t>很多因素會讓病人需要更多或更少的麻醉藥。如果你不了解這些因素，可能會遇到病人術中清醒，或者相反地，給太多藥造成低血壓。</a:t>
            </a:r>
          </a:p>
          <a:p/>
          <a:p>
            <a:r>
              <a:rPr sz="1100"/>
              <a:t>接下來這一頁，請大家非常仔細地聽。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【第六章內容 — 建議 7-8 分鐘】</a:t>
            </a:r>
          </a:p>
          <a:p/>
          <a:p>
            <a:r>
              <a:rPr sz="1100"/>
              <a:t>MAC 影響因素分三類：升高、降低、不影響。</a:t>
            </a:r>
          </a:p>
          <a:p/>
          <a:p>
            <a:r>
              <a:rPr sz="1100"/>
              <a:t>【升高 MAC 的因素——需要更多藥】</a:t>
            </a:r>
          </a:p>
          <a:p/>
          <a:p>
            <a:r>
              <a:rPr sz="1100"/>
              <a:t>體溫過高（Hyperthermia）：每上升 1°C，MAC 約升高 2-3%。發燒病人的麻醉需求增加。</a:t>
            </a:r>
          </a:p>
          <a:p/>
          <a:p>
            <a:r>
              <a:rPr sz="1100"/>
              <a:t>慢性飲酒：長期喝酒的人，中樞神經系統對抑制劑有耐受性，需要更高濃度。</a:t>
            </a:r>
          </a:p>
          <a:p/>
          <a:p>
            <a:r>
              <a:rPr sz="1100"/>
              <a:t>甲狀腺亢進：代謝率高，藥物代謝快。</a:t>
            </a:r>
          </a:p>
          <a:p/>
          <a:p>
            <a:r>
              <a:rPr sz="1100"/>
              <a:t>嬰幼兒，尤其是 6 個月大的嬰兒 MAC 最高。原因複雜，跟大腦發育、神經傳導物質有關。</a:t>
            </a:r>
          </a:p>
          <a:p>
            <a:r>
              <a:rPr sz="1100"/>
              <a:t>所以小嬰兒麻醉需要更高的 Sevoflurane 濃度。</a:t>
            </a:r>
          </a:p>
          <a:p/>
          <a:p>
            <a:r>
              <a:rPr sz="1100"/>
              <a:t>【降低 MAC 的因素——需要更少藥】</a:t>
            </a:r>
          </a:p>
          <a:p/>
          <a:p>
            <a:r>
              <a:rPr sz="1100"/>
              <a:t>高齡：每增加 10 歲，MAC 約降低 6%。80 歲老人可能只需要正常人一半的量。</a:t>
            </a:r>
          </a:p>
          <a:p/>
          <a:p>
            <a:r>
              <a:rPr sz="1100"/>
              <a:t>懷孕：孕婦的 MAC 降低 30-40%！孕激素有中樞抑制效果。記住：孕婦麻醉要特別小心，很容易給過量。</a:t>
            </a:r>
          </a:p>
          <a:p/>
          <a:p>
            <a:r>
              <a:rPr sz="1100"/>
              <a:t>低體溫：每降低 1°C，MAC 約降低 5%。接受心臟手術體外循環降溫的病人，只需要很少的麻醉藥。</a:t>
            </a:r>
          </a:p>
          <a:p/>
          <a:p>
            <a:r>
              <a:rPr sz="1100"/>
              <a:t>阿片類藥物（Morphine、Fentanyl）：與吸入藥協同作用，可以大幅降低 MAC。</a:t>
            </a:r>
          </a:p>
          <a:p>
            <a:r>
              <a:rPr sz="1100"/>
              <a:t>這就是為什麼麻醉中我們常同時用 Fentanyl + 吸入藥，可以讓兩者的用量都減少。</a:t>
            </a:r>
          </a:p>
          <a:p/>
          <a:p>
            <a:r>
              <a:rPr sz="1100"/>
              <a:t>α₂促效劑（Dexmedetomidine）：鎮靜效果強，可降低 MAC 40-50%。</a:t>
            </a:r>
          </a:p>
          <a:p/>
          <a:p>
            <a:r>
              <a:rPr sz="1100"/>
              <a:t>【不影響 MAC 的因素——臨床常見的誤解】</a:t>
            </a:r>
          </a:p>
          <a:p/>
          <a:p>
            <a:r>
              <a:rPr sz="1100"/>
              <a:t>性別不影響、麻醉時間不影響（所謂「越麻越不醒」是錯的）</a:t>
            </a:r>
          </a:p>
          <a:p>
            <a:r>
              <a:rPr sz="1100"/>
              <a:t>PaO₂ 正常範圍不影響（&gt;40 mmHg 就好）</a:t>
            </a:r>
          </a:p>
          <a:p>
            <a:r>
              <a:rPr sz="1100"/>
              <a:t>PaCO₂ 在 15-95 mmHg 範圍內不影響</a:t>
            </a:r>
          </a:p>
          <a:p/>
          <a:p>
            <a:r>
              <a:rPr sz="1100"/>
              <a:t>【護理臨床應用】</a:t>
            </a:r>
          </a:p>
          <a:p>
            <a:r>
              <a:rPr sz="1100"/>
              <a:t>每次看病人的病歷時，注意：這個病人有沒有以上這些特殊狀況？</a:t>
            </a:r>
          </a:p>
          <a:p>
            <a:r>
              <a:rPr sz="1100"/>
              <a:t>高齡老人 + 低體溫 = MAC 可能降到正常的一半以下，要注意血壓維持。</a:t>
            </a:r>
          </a:p>
          <a:p>
            <a:r>
              <a:rPr sz="1100"/>
              <a:t>年輕孕婦 = 謹慎，容易麻醉過深。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【章節引導 — 建議 30 秒】</a:t>
            </a:r>
          </a:p>
          <a:p/>
          <a:p>
            <a:r>
              <a:rPr sz="1100"/>
              <a:t>前面講了很多理論，現在我們進入最實用的部分——把臨床常用的四種藥物做一個系統性比較。</a:t>
            </a:r>
          </a:p>
          <a:p/>
          <a:p>
            <a:r>
              <a:rPr sz="1100"/>
              <a:t>Sevoflurane、Desflurane、Isoflurane、N₂O——這四個你們在手術室最常見的名字，現在一起來把它們的特性搞清楚。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【第七章內容 — 建議 8-10 分鐘】</a:t>
            </a:r>
          </a:p>
          <a:p/>
          <a:p>
            <a:r>
              <a:rPr sz="1100"/>
              <a:t>這是一張很重要的比較表，請大家花幾分鐘仔細看。我來帶你們逐欄讀。</a:t>
            </a:r>
          </a:p>
          <a:p/>
          <a:p>
            <a:r>
              <a:rPr sz="1100"/>
              <a:t>【Sevoflurane（七氟烷）——臨床首選】</a:t>
            </a:r>
          </a:p>
          <a:p>
            <a:r>
              <a:rPr sz="1100"/>
              <a:t>MAC 2%，血氣係數 0.65，誘導快，氣道刺激極低。</a:t>
            </a:r>
          </a:p>
          <a:p>
            <a:r>
              <a:rPr sz="1100"/>
              <a:t>最大優點：氣道非常溫和，適合幼兒吸入誘導（面罩麻醉），也適合氣喘病人。</a:t>
            </a:r>
          </a:p>
          <a:p>
            <a:r>
              <a:rPr sz="1100"/>
              <a:t>特殊注意：低流量（&lt;1 L/min）時可能產生 Compound A，有輕微腎毒性（稍後詳談）。</a:t>
            </a:r>
          </a:p>
          <a:p/>
          <a:p>
            <a:r>
              <a:rPr sz="1100"/>
              <a:t>【Desflurane（地氟烷）——甦醒最快】</a:t>
            </a:r>
          </a:p>
          <a:p>
            <a:r>
              <a:rPr sz="1100"/>
              <a:t>MAC 6.6%，血氣係數 0.45，誘導和甦醒都是最快的。</a:t>
            </a:r>
          </a:p>
          <a:p>
            <a:r>
              <a:rPr sz="1100"/>
              <a:t>最大缺點：氣道刺激性強。若用它做誘導，病人可能會咳嗽、喉痙攣，甚至屏氣。</a:t>
            </a:r>
          </a:p>
          <a:p>
            <a:r>
              <a:rPr sz="1100"/>
              <a:t>正確用法：靜脈誘導後，再開始用 Des 維持。不能單獨用 Des 誘導清醒病人！</a:t>
            </a:r>
          </a:p>
          <a:p>
            <a:r>
              <a:rPr sz="1100"/>
              <a:t>另一個特殊現象：快速增加濃度時，會刺激交感神經，造成心率和血壓急速上升。</a:t>
            </a:r>
          </a:p>
          <a:p>
            <a:r>
              <a:rPr sz="1100"/>
              <a:t>適用情境：需要快速甦醒的手術（門診手術、神經外科需要術後立即評估）。</a:t>
            </a:r>
          </a:p>
          <a:p/>
          <a:p>
            <a:r>
              <a:rPr sz="1100"/>
              <a:t>【Isoflurane（異氟烷）——效能強但慢】</a:t>
            </a:r>
          </a:p>
          <a:p>
            <a:r>
              <a:rPr sz="1100"/>
              <a:t>MAC 1.15%，血氣係數 1.4，誘導和甦醒都較慢。</a:t>
            </a:r>
          </a:p>
          <a:p>
            <a:r>
              <a:rPr sz="1100"/>
              <a:t>效能強，對心臟有保護效應（預適應效應）。</a:t>
            </a:r>
          </a:p>
          <a:p>
            <a:r>
              <a:rPr sz="1100"/>
              <a:t>曾有「Coronary Steal」的爭議——擴張冠狀動脈可能把血流從狹窄的血管盜走。但研究顯示臨床上意義不大。</a:t>
            </a:r>
          </a:p>
          <a:p>
            <a:r>
              <a:rPr sz="1100"/>
              <a:t>適用情境：長時間手術、需要特定血流動力效果的病人。</a:t>
            </a:r>
          </a:p>
          <a:p/>
          <a:p>
            <a:r>
              <a:rPr sz="1100"/>
              <a:t>【N₂O（笑氣）——輔助用途】</a:t>
            </a:r>
          </a:p>
          <a:p>
            <a:r>
              <a:rPr sz="1100"/>
              <a:t>MAC 104%，無法單獨完成麻醉。</a:t>
            </a:r>
          </a:p>
          <a:p>
            <a:r>
              <a:rPr sz="1100"/>
              <a:t>優點：起效和消退都很快，鎮痛效果不錯，可以減少其他麻醉藥用量。</a:t>
            </a:r>
          </a:p>
          <a:p>
            <a:r>
              <a:rPr sz="1100"/>
              <a:t>重大限制：</a:t>
            </a:r>
          </a:p>
          <a:p>
            <a:r>
              <a:rPr sz="1100"/>
              <a:t>① 會擴散進入身體的封閉腔（腸子、氣胸腔、中耳）→ 有些病人禁忌！</a:t>
            </a:r>
          </a:p>
          <a:p>
            <a:r>
              <a:rPr sz="1100"/>
              <a:t>② 長時間使用會抑制維生素 B12 相關酵素。</a:t>
            </a:r>
          </a:p>
          <a:p>
            <a:r>
              <a:rPr sz="1100"/>
              <a:t>③ 是強效溫室氣體，環保考量讓很多醫院已減少使用。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【章節引導 — 建議 30 秒】</a:t>
            </a:r>
          </a:p>
          <a:p/>
          <a:p>
            <a:r>
              <a:rPr sz="1100"/>
              <a:t>接下來三個章節，我們要分別看吸入性麻醉藥對「心臟」、「肺臟」、「大腦」這三個系統的影響。</a:t>
            </a:r>
          </a:p>
          <a:p/>
          <a:p>
            <a:r>
              <a:rPr sz="1100"/>
              <a:t>這些知識直接關係到你在監測病人時，要注意什麼、正常範圍是什麼、出現異常時怎麼辦。</a:t>
            </a:r>
          </a:p>
          <a:p/>
          <a:p>
            <a:r>
              <a:rPr sz="1100"/>
              <a:t>先從心血管系統開始。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【第八章內容 — 建議 6-7 分鐘】</a:t>
            </a:r>
          </a:p>
          <a:p/>
          <a:p>
            <a:r>
              <a:rPr sz="1100"/>
              <a:t>【心肌抑制——所有吸入藥都有，程度不同】</a:t>
            </a:r>
          </a:p>
          <a:p>
            <a:r>
              <a:rPr sz="1100"/>
              <a:t>所有揮發性麻醉藥都會抑制心肌收縮力，是劑量依賴性的。</a:t>
            </a:r>
          </a:p>
          <a:p/>
          <a:p>
            <a:r>
              <a:rPr sz="1100"/>
              <a:t>強度排序：Halothane &gt; Isoflurane &gt; Sevoflurane ≈ Desflurane</a:t>
            </a:r>
          </a:p>
          <a:p/>
          <a:p>
            <a:r>
              <a:rPr sz="1100"/>
              <a:t>現代藥物（Sevo、Des）對心肌抑制比較輕，這也是它們取代 Halothane 的重要原因之一。</a:t>
            </a:r>
          </a:p>
          <a:p/>
          <a:p>
            <a:r>
              <a:rPr sz="1100"/>
              <a:t>臨床表現：麻醉加深後血壓下降，心跳可能稍微變慢。</a:t>
            </a:r>
          </a:p>
          <a:p/>
          <a:p>
            <a:r>
              <a:rPr sz="1100"/>
              <a:t>【SVR（全身血管阻力）下降】</a:t>
            </a:r>
          </a:p>
          <a:p>
            <a:r>
              <a:rPr sz="1100"/>
              <a:t>吸入藥同時會擴張血管，讓 SVR 下降，進一步讓血壓降低。</a:t>
            </a:r>
          </a:p>
          <a:p/>
          <a:p>
            <a:r>
              <a:rPr sz="1100"/>
              <a:t>這就是為什麼麻醉後血壓常常比術前低 10-20%——這是正常的藥物效應，但若降太多（MAP &lt; 65 mmHg）就需要處理。</a:t>
            </a:r>
          </a:p>
          <a:p/>
          <a:p>
            <a:r>
              <a:rPr sz="1100"/>
              <a:t>【Desflurane 的特殊心血管效應——非常重要！】</a:t>
            </a:r>
          </a:p>
          <a:p>
            <a:r>
              <a:rPr sz="1100"/>
              <a:t>Des 有個獨特現象：當你在短時間內快速增加濃度時（例如從 4% 跳到 7%），它會刺激氣道感受器，引起交感神經強烈反射。</a:t>
            </a:r>
          </a:p>
          <a:p/>
          <a:p>
            <a:r>
              <a:rPr sz="1100"/>
              <a:t>結果是：心跳加快、血壓上升，就像病人突然很緊張一樣。</a:t>
            </a:r>
          </a:p>
          <a:p/>
          <a:p>
            <a:r>
              <a:rPr sz="1100"/>
              <a:t>處理方法：使用 Des 時要緩慢調整濃度，事先給足阿片類藥物，可以抑制這個反射。</a:t>
            </a:r>
          </a:p>
          <a:p/>
          <a:p>
            <a:r>
              <a:rPr sz="1100"/>
              <a:t>【Halothane 的心律不整風險】</a:t>
            </a:r>
          </a:p>
          <a:p>
            <a:r>
              <a:rPr sz="1100"/>
              <a:t>Halothane 會讓心肌對 Catecholamines（例如 Epinephrine）更敏感。</a:t>
            </a:r>
          </a:p>
          <a:p>
            <a:r>
              <a:rPr sz="1100"/>
              <a:t>如果病人在 Halothane 麻醉下注射了 Epinephrine（例如外科醫師局部止血用），可能引發嚴重心律不整，甚至心室纖維顫動（VF）！</a:t>
            </a:r>
          </a:p>
          <a:p>
            <a:r>
              <a:rPr sz="1100"/>
              <a:t>這是 Halothane 被淘汰的主要原因之一。</a:t>
            </a:r>
          </a:p>
          <a:p/>
          <a:p>
            <a:r>
              <a:rPr sz="1100"/>
              <a:t>【護理監測重點】</a:t>
            </a:r>
          </a:p>
          <a:p>
            <a:r>
              <a:rPr sz="1100"/>
              <a:t>麻醉中需要持續監測：</a:t>
            </a:r>
          </a:p>
          <a:p>
            <a:r>
              <a:rPr sz="1100"/>
              <a:t>BP（動脈收縮壓、舒張壓、MAP）</a:t>
            </a:r>
          </a:p>
          <a:p>
            <a:r>
              <a:rPr sz="1100"/>
              <a:t>HR（心率）</a:t>
            </a:r>
          </a:p>
          <a:p>
            <a:r>
              <a:rPr sz="1100"/>
              <a:t>ECG（特別注意心律不整波形）</a:t>
            </a:r>
          </a:p>
          <a:p>
            <a:r>
              <a:rPr sz="1100"/>
              <a:t>SpO₂</a:t>
            </a:r>
          </a:p>
          <a:p/>
          <a:p>
            <a:r>
              <a:rPr sz="1100"/>
              <a:t>出現低血壓時第一步：確認麻醉深度是否過深，先嘗試降低揮發器濃度，再考慮升壓藥。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【章節引導 — 建議 30 秒】</a:t>
            </a:r>
          </a:p>
          <a:p/>
          <a:p>
            <a:r>
              <a:rPr sz="1100"/>
              <a:t>心臟看完了，接下來是呼吸系統。</a:t>
            </a:r>
          </a:p>
          <a:p/>
          <a:p>
            <a:r>
              <a:rPr sz="1100"/>
              <a:t>吸入性麻醉藥從肺部進入，當然也對肺部有影響。</a:t>
            </a:r>
          </a:p>
          <a:p/>
          <a:p>
            <a:r>
              <a:rPr sz="1100"/>
              <a:t>重要的是：這些影響有些對某類病人是「好事」（例如氣喘），有些則需要我們謹慎監測。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【第九章內容 — 建議 6-7 分鐘】</a:t>
            </a:r>
          </a:p>
          <a:p/>
          <a:p>
            <a:r>
              <a:rPr sz="1100"/>
              <a:t>【劑量依賴性呼吸抑制】</a:t>
            </a:r>
          </a:p>
          <a:p>
            <a:r>
              <a:rPr sz="1100"/>
              <a:t>所有吸入性麻醉藥都會抑制呼吸中樞，程度跟劑量成正比。</a:t>
            </a:r>
          </a:p>
          <a:p/>
          <a:p>
            <a:r>
              <a:rPr sz="1100"/>
              <a:t>具體變化：</a:t>
            </a:r>
          </a:p>
          <a:p>
            <a:r>
              <a:rPr sz="1100"/>
              <a:t>• 潮氣量（TV）↓——每次呼吸的量減少了</a:t>
            </a:r>
          </a:p>
          <a:p>
            <a:r>
              <a:rPr sz="1100"/>
              <a:t>• 呼吸頻率（RR）↑——身體代償性加快呼吸</a:t>
            </a:r>
          </a:p>
          <a:p>
            <a:r>
              <a:rPr sz="1100"/>
              <a:t>• 但每分鐘通氣量（TV × RR = MV）仍然是下降的</a:t>
            </a:r>
          </a:p>
          <a:p/>
          <a:p>
            <a:r>
              <a:rPr sz="1100"/>
              <a:t>結果：PaCO₂ 上升（CO₂ 排不出去），SpO₂ 可能下降。</a:t>
            </a:r>
          </a:p>
          <a:p/>
          <a:p>
            <a:r>
              <a:rPr sz="1100"/>
              <a:t>CO₂ 反應曲線右移：正常人 PaCO₂ 上升到 45 mmHg 就很想喘了，麻醉中病人可能 CO₂ 到 55-60 都不怎麼喘——這代表自主呼吸保護反應消失了，需要機械輔助通氣。</a:t>
            </a:r>
          </a:p>
          <a:p/>
          <a:p>
            <a:r>
              <a:rPr sz="1100"/>
              <a:t>【支氣管效應——氣喘病人的福音】</a:t>
            </a:r>
          </a:p>
          <a:p>
            <a:r>
              <a:rPr sz="1100"/>
              <a:t>吸入性麻醉藥可以舒張支氣管平滑肌，這對氣喘發作或氣道痙攣的病人非常有利。</a:t>
            </a:r>
          </a:p>
          <a:p/>
          <a:p>
            <a:r>
              <a:rPr sz="1100"/>
              <a:t>效果強弱：Sevoflurane &gt; Isoflurane &gt; Desflurane（Des 幾乎沒有支氣管擴張效果）</a:t>
            </a:r>
          </a:p>
          <a:p/>
          <a:p>
            <a:r>
              <a:rPr sz="1100"/>
              <a:t>氣喘病人誘導：首選 Sevoflurane！</a:t>
            </a:r>
          </a:p>
          <a:p/>
          <a:p>
            <a:r>
              <a:rPr sz="1100"/>
              <a:t>【Desflurane 的氣道刺激——重要臨床警告】</a:t>
            </a:r>
          </a:p>
          <a:p>
            <a:r>
              <a:rPr sz="1100"/>
              <a:t>Des 是所有吸入藥中氣道刺激性最強的。</a:t>
            </a:r>
          </a:p>
          <a:p/>
          <a:p>
            <a:r>
              <a:rPr sz="1100"/>
              <a:t>如果病人清醒或在淺麻醉時給 Des：</a:t>
            </a:r>
          </a:p>
          <a:p>
            <a:r>
              <a:rPr sz="1100"/>
              <a:t>• 咳嗽——劇烈、連續</a:t>
            </a:r>
          </a:p>
          <a:p>
            <a:r>
              <a:rPr sz="1100"/>
              <a:t>• 喉痙攣（Laryngospasm）——氣道完全關閉，非常危險！</a:t>
            </a:r>
          </a:p>
          <a:p>
            <a:r>
              <a:rPr sz="1100"/>
              <a:t>• 黏液分泌物增加</a:t>
            </a:r>
          </a:p>
          <a:p/>
          <a:p>
            <a:r>
              <a:rPr sz="1100"/>
              <a:t>正確做法：</a:t>
            </a:r>
          </a:p>
          <a:p>
            <a:r>
              <a:rPr sz="1100"/>
              <a:t>❶ 一定要靜脈誘導確認病人睡著、氣管插管成功後，才開始使用 Des。</a:t>
            </a:r>
          </a:p>
          <a:p>
            <a:r>
              <a:rPr sz="1100"/>
              <a:t>❷ 維持足夠麻醉深度時才可以調整 Des 濃度。</a:t>
            </a:r>
          </a:p>
          <a:p/>
          <a:p>
            <a:r>
              <a:rPr sz="1100"/>
              <a:t>【纖毛功能抑制】</a:t>
            </a:r>
          </a:p>
          <a:p>
            <a:r>
              <a:rPr sz="1100"/>
              <a:t>所有吸入藥都會抑制氣道纖毛的正常擺動，減弱黏液清除能力。</a:t>
            </a:r>
          </a:p>
          <a:p/>
          <a:p>
            <a:r>
              <a:rPr sz="1100"/>
              <a:t>長時間手術後：分泌物積聚 → 肺塌陷（Atelectasis）風險上升。</a:t>
            </a:r>
          </a:p>
          <a:p/>
          <a:p>
            <a:r>
              <a:rPr sz="1100"/>
              <a:t>護理重點：術後協助病人深呼吸、咳嗽排痰，早期下床活動非常重要！</a:t>
            </a:r>
          </a:p>
          <a:p/>
          <a:p>
            <a:r>
              <a:rPr sz="1100"/>
              <a:t>【EtCO₂ 監測——你的第一道防線】</a:t>
            </a:r>
          </a:p>
          <a:p>
            <a:r>
              <a:rPr sz="1100"/>
              <a:t>EtCO₂（呼末二氧化碳）是監測通氣是否足夠的最直接指標。</a:t>
            </a:r>
          </a:p>
          <a:p/>
          <a:p>
            <a:r>
              <a:rPr sz="1100"/>
              <a:t>正常 EtCO₂：35-45 mmHg。</a:t>
            </a:r>
          </a:p>
          <a:p>
            <a:r>
              <a:rPr sz="1100"/>
              <a:t>EtCO₂ 上升 → 通氣不足 → 需要增加呼吸器輔助通氣量。</a:t>
            </a:r>
          </a:p>
          <a:p>
            <a:r>
              <a:rPr sz="1100"/>
              <a:t>EtCO₂ 突然急速上升 → 惡性高熱的早期警訊（下一章會詳細說明）！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【章節引導 — 建議 30 秒】</a:t>
            </a:r>
          </a:p>
          <a:p/>
          <a:p>
            <a:r>
              <a:rPr sz="1100"/>
              <a:t>心臟、肺臟都看完了，最後是大腦和顱內壓。</a:t>
            </a:r>
          </a:p>
          <a:p/>
          <a:p>
            <a:r>
              <a:rPr sz="1100"/>
              <a:t>這個主題在神經外科手術中特別重要，但其實任何開顱手術、顱內高壓病人，都需要特別注意吸入藥對腦部的影響。</a:t>
            </a:r>
          </a:p>
          <a:p/>
          <a:p>
            <a:r>
              <a:rPr sz="1100"/>
              <a:t>大家想想：如果一個病人腦瘤手術，用什麼吸入藥最安全？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【第十章內容 — 建議 6-7 分鐘】</a:t>
            </a:r>
          </a:p>
          <a:p/>
          <a:p>
            <a:r>
              <a:rPr sz="1100"/>
              <a:t>【腦血流（CBF）的雙重機制——拮抗效應】</a:t>
            </a:r>
          </a:p>
          <a:p>
            <a:r>
              <a:rPr sz="1100"/>
              <a:t>吸入性麻醉藥對腦血流的影響，是兩種相反力量的拉鋸：</a:t>
            </a:r>
          </a:p>
          <a:p/>
          <a:p>
            <a:r>
              <a:rPr sz="1100"/>
              <a:t>力量一：直接血管擴張效應 → 腦血流增加（CBF↑）→ 顱內壓上升（ICP↑）</a:t>
            </a:r>
          </a:p>
          <a:p>
            <a:r>
              <a:rPr sz="1100"/>
              <a:t>力量二：代謝抑制效應 → 大腦代謝率（CMRO₂↓）→ CO₂ 產生減少 → 腦血管收縮 → CBF↓ → ICP↓</a:t>
            </a:r>
          </a:p>
          <a:p/>
          <a:p>
            <a:r>
              <a:rPr sz="1100"/>
              <a:t>在低濃度（&lt;1 MAC）時，代謝抑制往往勝出，CBF 可能下降或不變。</a:t>
            </a:r>
          </a:p>
          <a:p>
            <a:r>
              <a:rPr sz="1100"/>
              <a:t>在高濃度（&gt;1 MAC）時，血管擴張效應佔主導，CBF 明顯上升，ICP 上升。</a:t>
            </a:r>
          </a:p>
          <a:p/>
          <a:p>
            <a:r>
              <a:rPr sz="1100"/>
              <a:t>所以：神經外科病人使用吸入藥的原則是——濃度必須維持在 1 MAC 以下，同時搭配適度過度通氣來降低 PaCO₂，進一步收縮腦血管，抵消擴張效應。</a:t>
            </a:r>
          </a:p>
          <a:p/>
          <a:p>
            <a:r>
              <a:rPr sz="1100"/>
              <a:t>【ICP 上升風險排序】</a:t>
            </a:r>
          </a:p>
          <a:p>
            <a:r>
              <a:rPr sz="1100"/>
              <a:t>N₂O &gt; Desflurane &gt; Isoflurane &gt; Sevoflurane</a:t>
            </a:r>
          </a:p>
          <a:p/>
          <a:p>
            <a:r>
              <a:rPr sz="1100"/>
              <a:t>Sevoflurane 對 ICP 的影響最小，是神經外科手術中最常選用的吸入藥。</a:t>
            </a:r>
          </a:p>
          <a:p/>
          <a:p>
            <a:r>
              <a:rPr sz="1100"/>
              <a:t>N₂O 在神經外科通常需要避免，特別是已有顱內壓升高的病人。</a:t>
            </a:r>
          </a:p>
          <a:p/>
          <a:p>
            <a:r>
              <a:rPr sz="1100"/>
              <a:t>【CMRO₂ 抑制——腦保護潛力】</a:t>
            </a:r>
          </a:p>
          <a:p>
            <a:r>
              <a:rPr sz="1100"/>
              <a:t>吸入藥降低大腦的氧氣需求（CMRO₂↓），在理論上對缺血的腦組織有保護效果。</a:t>
            </a:r>
          </a:p>
          <a:p>
            <a:r>
              <a:rPr sz="1100"/>
              <a:t>高劑量時可以在 EEG 看到「爆發性抑制」（Burst Suppression）模式，代表極深的代謝抑制。</a:t>
            </a:r>
          </a:p>
          <a:p/>
          <a:p>
            <a:r>
              <a:rPr sz="1100"/>
              <a:t>【Sevoflurane 特殊注意：幼兒癲癇樣 EEG】</a:t>
            </a:r>
          </a:p>
          <a:p>
            <a:r>
              <a:rPr sz="1100"/>
              <a:t>在幼兒使用高濃度（&gt;1.5 MAC）Sevoflurane 誘導時，有報告顯示 EEG 出現癲癇樣活動，但臨床意義不明確，也未必有臨床癲癇發作。</a:t>
            </a:r>
          </a:p>
          <a:p>
            <a:r>
              <a:rPr sz="1100"/>
              <a:t>建議在幼兒誘導時，濃度不要長時間維持在高濃度（&gt;2 MAC），誘導後盡快降至維持濃度。</a:t>
            </a:r>
          </a:p>
          <a:p/>
          <a:p>
            <a:r>
              <a:rPr sz="1100"/>
              <a:t>【護理臨床要點】</a:t>
            </a:r>
          </a:p>
          <a:p>
            <a:r>
              <a:rPr sz="1100"/>
              <a:t>神經外科病人術中監測，特別注意：</a:t>
            </a:r>
          </a:p>
          <a:p>
            <a:r>
              <a:rPr sz="1100"/>
              <a:t>• 維持適當的 PaCO₂（通常目標 30-35 mmHg，輕度過度通氣）</a:t>
            </a:r>
          </a:p>
          <a:p>
            <a:r>
              <a:rPr sz="1100"/>
              <a:t>• 避免頭低位（Trendelenburg）時間過長</a:t>
            </a:r>
          </a:p>
          <a:p>
            <a:r>
              <a:rPr sz="1100"/>
              <a:t>• 出現不明原因血壓上升 + 心跳減慢 → 可能是 Cushing reflex（顱內壓極高）的警訊！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【章節引導 — 建議 1 分鐘】</a:t>
            </a:r>
          </a:p>
          <a:p/>
          <a:p>
            <a:r>
              <a:rPr sz="1100"/>
              <a:t>我們現在要進入今天最重要的安全主題——惡性高熱。</a:t>
            </a:r>
          </a:p>
          <a:p/>
          <a:p>
            <a:r>
              <a:rPr sz="1100"/>
              <a:t>請大家把所有東西放下來，認真聽這個部分。</a:t>
            </a:r>
          </a:p>
          <a:p/>
          <a:p>
            <a:r>
              <a:rPr sz="1100"/>
              <a:t>惡性高熱是罕見的，但一旦發生，如果處置不當，死亡率超過 70%。</a:t>
            </a:r>
          </a:p>
          <a:p>
            <a:r>
              <a:rPr sz="1100"/>
              <a:t>如果正確、快速地處置，死亡率可以降到 5% 以下。</a:t>
            </a:r>
          </a:p>
          <a:p/>
          <a:p>
            <a:r>
              <a:rPr sz="1100"/>
              <a:t>護理師在手術室是第一線觀察者，很多時候比麻醉醫師更早注意到異常的監測數值。</a:t>
            </a:r>
          </a:p>
          <a:p>
            <a:r>
              <a:rPr sz="1100"/>
              <a:t>了解惡性高熱，可能有一天就是救一條命的關鍵。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【第十一章第一部分 — 建議 8-10 分鐘】</a:t>
            </a:r>
          </a:p>
          <a:p/>
          <a:p>
            <a:r>
              <a:rPr sz="1100"/>
              <a:t>【什麼是惡性高熱？】</a:t>
            </a:r>
          </a:p>
          <a:p>
            <a:r>
              <a:rPr sz="1100"/>
              <a:t>惡性高熱（Malignant Hyperthermia, MH）是一種遺傳性的麻醉急症。</a:t>
            </a:r>
          </a:p>
          <a:p/>
          <a:p>
            <a:r>
              <a:rPr sz="1100"/>
              <a:t>病人帶有 RYR1 基因突變（少數是 CACNA1S 基因），但平時完全正常、沒有症狀。</a:t>
            </a:r>
          </a:p>
          <a:p/>
          <a:p>
            <a:r>
              <a:rPr sz="1100"/>
              <a:t>【觸發機制】</a:t>
            </a:r>
          </a:p>
          <a:p>
            <a:r>
              <a:rPr sz="1100"/>
              <a:t>當接觸到「誘發劑」時，肌肉細胞裡的鈣離子調節系統失控：</a:t>
            </a:r>
          </a:p>
          <a:p>
            <a:r>
              <a:rPr sz="1100"/>
              <a:t>骨骼肌的肌漿網（Sarcoplasmic reticulum）大量釋放 Ca²⁺ → 骨骼肌持續收縮 → 高代謝危機</a:t>
            </a:r>
          </a:p>
          <a:p/>
          <a:p>
            <a:r>
              <a:rPr sz="1100"/>
              <a:t>高代謝的後果包括：</a:t>
            </a:r>
          </a:p>
          <a:p>
            <a:r>
              <a:rPr sz="1100"/>
              <a:t>• 大量產熱 → 體溫飆升（每 5 分鐘可上升超過 1°C！）</a:t>
            </a:r>
          </a:p>
          <a:p>
            <a:r>
              <a:rPr sz="1100"/>
              <a:t>• 大量消耗 O₂ → CO₂ 大量產生 → EtCO₂ 急升</a:t>
            </a:r>
          </a:p>
          <a:p>
            <a:r>
              <a:rPr sz="1100"/>
              <a:t>• ATP 耗盡 → 細胞損傷 → 肌肉溶解</a:t>
            </a:r>
          </a:p>
          <a:p>
            <a:r>
              <a:rPr sz="1100"/>
              <a:t>• K⁺ 釋放 → 高鉀血症 → 心律不整</a:t>
            </a:r>
          </a:p>
          <a:p>
            <a:r>
              <a:rPr sz="1100"/>
              <a:t>• 乳酸大量產生 → 嚴重代謝性酸中毒</a:t>
            </a:r>
          </a:p>
          <a:p/>
          <a:p>
            <a:r>
              <a:rPr sz="1100"/>
              <a:t>【哪些藥物會觸發？】</a:t>
            </a:r>
          </a:p>
          <a:p>
            <a:r>
              <a:rPr sz="1100"/>
              <a:t>誘發劑（務必記住）：</a:t>
            </a:r>
          </a:p>
          <a:p>
            <a:r>
              <a:rPr sz="1100"/>
              <a:t>✗ 所有揮發性吸入麻醉藥：Sevoflurane、Desflurane、Isoflurane、Halothane</a:t>
            </a:r>
          </a:p>
          <a:p>
            <a:r>
              <a:rPr sz="1100"/>
              <a:t>✗ Succinylcholine（琥珀膽鹼）</a:t>
            </a:r>
          </a:p>
          <a:p/>
          <a:p>
            <a:r>
              <a:rPr sz="1100"/>
              <a:t>以下藥物是「安全的」，不會觸發 MH：</a:t>
            </a:r>
          </a:p>
          <a:p>
            <a:r>
              <a:rPr sz="1100"/>
              <a:t>✓ Propofol、Ketamine、Opioids（Fentanyl 等）</a:t>
            </a:r>
          </a:p>
          <a:p>
            <a:r>
              <a:rPr sz="1100"/>
              <a:t>✓ Midazolam 等苯二氮平類</a:t>
            </a:r>
          </a:p>
          <a:p>
            <a:r>
              <a:rPr sz="1100"/>
              <a:t>✓ 非去極化肌鬆劑（Rocuronium、Vecuronium 等）</a:t>
            </a:r>
          </a:p>
          <a:p>
            <a:r>
              <a:rPr sz="1100"/>
              <a:t>✓ N₂O（本身不直接觸發，但 MH 已發生時不用）</a:t>
            </a:r>
          </a:p>
          <a:p/>
          <a:p>
            <a:r>
              <a:rPr sz="1100"/>
              <a:t>【早期徵象——按重要性順序背起來】</a:t>
            </a:r>
          </a:p>
          <a:p/>
          <a:p>
            <a:r>
              <a:rPr sz="1100"/>
              <a:t>① EtCO₂ 急速上升——這是最早出現的警訊！</a:t>
            </a:r>
          </a:p>
          <a:p>
            <a:r>
              <a:rPr sz="1100"/>
              <a:t>   正常麻醉中 EtCO₂ 通常平穩，突然不明原因上升超過 45 mmHg，要高度懷疑。</a:t>
            </a:r>
          </a:p>
          <a:p/>
          <a:p>
            <a:r>
              <a:rPr sz="1100"/>
              <a:t>② 心律不整——竇性心搏過速最常見，也可能是 VT。</a:t>
            </a:r>
          </a:p>
          <a:p/>
          <a:p>
            <a:r>
              <a:rPr sz="1100"/>
              <a:t>③ 骨骼肌僵硬——插管後咬肌不放鬆（Masseter spasm）是非常重要的警訊！</a:t>
            </a:r>
          </a:p>
          <a:p>
            <a:r>
              <a:rPr sz="1100"/>
              <a:t>   很多 MH 病例在這一步就應該要警覺了。</a:t>
            </a:r>
          </a:p>
          <a:p/>
          <a:p>
            <a:r>
              <a:rPr sz="1100"/>
              <a:t>④ 體溫急速上升——這是「晚期」徵象！出現體溫上升，MH 已進展一段時間了。</a:t>
            </a:r>
          </a:p>
          <a:p>
            <a:r>
              <a:rPr sz="1100"/>
              <a:t>   發現體溫上升 = 必須立刻行動。</a:t>
            </a:r>
          </a:p>
          <a:p/>
          <a:p>
            <a:r>
              <a:rPr sz="1100"/>
              <a:t>⑤ 深色尿（可樂色）——肌紅蛋白尿，代表大量橫紋肌溶解。</a:t>
            </a:r>
          </a:p>
          <a:p/>
          <a:p>
            <a:r>
              <a:rPr sz="1100"/>
              <a:t>⑥ 高鉀血症——ECG 上出現「高帳篷型 T 波」要注意。</a:t>
            </a:r>
          </a:p>
          <a:p/>
          <a:p>
            <a:r>
              <a:rPr sz="1100"/>
              <a:t>【護理師的角色】</a:t>
            </a:r>
          </a:p>
          <a:p>
            <a:r>
              <a:rPr sz="1100"/>
              <a:t>你是第一個能看到這些監測數值異常的人。</a:t>
            </a:r>
          </a:p>
          <a:p>
            <a:r>
              <a:rPr sz="1100"/>
              <a:t>當你看到不明原因的 EtCO₂ 快速上升，立刻告知麻醉醫師，不要等待。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【第十一章第二部分——緊急處置 — 建議 8-10 分鐘】</a:t>
            </a:r>
          </a:p>
          <a:p/>
          <a:p>
            <a:r>
              <a:rPr sz="1100"/>
              <a:t>【緊急處置流程——按步驟來】</a:t>
            </a:r>
          </a:p>
          <a:p/>
          <a:p>
            <a:r>
              <a:rPr sz="1100"/>
              <a:t>步驟 1：立即停用所有誘發劑</a:t>
            </a:r>
          </a:p>
          <a:p>
            <a:r>
              <a:rPr sz="1100"/>
              <a:t>這是最優先、最重要的步驟。</a:t>
            </a:r>
          </a:p>
          <a:p>
            <a:r>
              <a:rPr sz="1100"/>
              <a:t>關掉揮發器，停止 Succinylcholine。</a:t>
            </a:r>
          </a:p>
          <a:p>
            <a:r>
              <a:rPr sz="1100"/>
              <a:t>如果有條件，更換整個麻醉迴路（包括鈉石灰罐），用 100% 純氧以 10 L/min 高流量沖洗。</a:t>
            </a:r>
          </a:p>
          <a:p>
            <a:r>
              <a:rPr sz="1100"/>
              <a:t>同時告知外科醫師：「我們有緊急狀況，請盡快結束手術或暫停。」</a:t>
            </a:r>
          </a:p>
          <a:p/>
          <a:p>
            <a:r>
              <a:rPr sz="1100"/>
              <a:t>步驟 2：呼叫援助 + 啟動緊急程序</a:t>
            </a:r>
          </a:p>
          <a:p>
            <a:r>
              <a:rPr sz="1100"/>
              <a:t>立刻大聲呼叫其他人進來協助。</a:t>
            </a:r>
          </a:p>
          <a:p>
            <a:r>
              <a:rPr sz="1100"/>
              <a:t>通知護理長、主治醫師。</a:t>
            </a:r>
          </a:p>
          <a:p>
            <a:r>
              <a:rPr sz="1100"/>
              <a:t>取出 MH 急救車（所有醫院手術室應備有 Dantrolene 藥物）。</a:t>
            </a:r>
          </a:p>
          <a:p/>
          <a:p>
            <a:r>
              <a:rPr sz="1100"/>
              <a:t>步驟 3：Dantrolene 給藥——這是唯一解藥</a:t>
            </a:r>
          </a:p>
          <a:p>
            <a:r>
              <a:rPr sz="1100"/>
              <a:t>Dantrolene 的機制：直接阻斷 RYR1，抑制 Ca²⁺ 從肌漿網釋放。</a:t>
            </a:r>
          </a:p>
          <a:p>
            <a:r>
              <a:rPr sz="1100"/>
              <a:t>劑量：2.5 mg/kg 靜脈注射，每 5 分鐘重複一次，最高可給到 10 mg/kg。</a:t>
            </a:r>
          </a:p>
          <a:p>
            <a:r>
              <a:rPr sz="1100"/>
              <a:t>注意：每瓶 Dantrolene 需要用 60 mL 無菌注射用水（不是生理食鹽水！）溶解，溶解費時，需要多人同時準備多瓶。</a:t>
            </a:r>
          </a:p>
          <a:p/>
          <a:p>
            <a:r>
              <a:rPr sz="1100"/>
              <a:t>步驟 4：積極降溫</a:t>
            </a:r>
          </a:p>
          <a:p>
            <a:r>
              <a:rPr sz="1100"/>
              <a:t>體表：冰袋（腋下、腹股溝）、冷濕布</a:t>
            </a:r>
          </a:p>
          <a:p>
            <a:r>
              <a:rPr sz="1100"/>
              <a:t>輸液：冷靜脈輸液（4°C 生理食鹽水）</a:t>
            </a:r>
          </a:p>
          <a:p>
            <a:r>
              <a:rPr sz="1100"/>
              <a:t>目標：核心體溫降到 38.5°C 以下，然後停止降溫，避免過度降溫造成低溫。</a:t>
            </a:r>
          </a:p>
          <a:p/>
          <a:p>
            <a:r>
              <a:rPr sz="1100"/>
              <a:t>步驟 5：代謝性酸中毒處理</a:t>
            </a:r>
          </a:p>
          <a:p>
            <a:r>
              <a:rPr sz="1100"/>
              <a:t>NaHCO₃ 1-2 mEq/kg 靜脈注射</a:t>
            </a:r>
          </a:p>
          <a:p>
            <a:r>
              <a:rPr sz="1100"/>
              <a:t>增加過度通氣排出 CO₂（PaCO₂ 目標 25-30 mmHg）</a:t>
            </a:r>
          </a:p>
          <a:p/>
          <a:p>
            <a:r>
              <a:rPr sz="1100"/>
              <a:t>步驟 6：高鉀血症處理</a:t>
            </a:r>
          </a:p>
          <a:p>
            <a:r>
              <a:rPr sz="1100"/>
              <a:t>葡萄糖 + 胰島素（讓 K⁺ 進入細胞）</a:t>
            </a:r>
          </a:p>
          <a:p>
            <a:r>
              <a:rPr sz="1100"/>
              <a:t>CaCl₂（保護心臟免受高鉀影響）</a:t>
            </a:r>
          </a:p>
          <a:p>
            <a:r>
              <a:rPr sz="1100"/>
              <a:t>持續監測 ECG</a:t>
            </a:r>
          </a:p>
          <a:p/>
          <a:p>
            <a:r>
              <a:rPr sz="1100"/>
              <a:t>步驟 7：轉入 ICU 監測至少 24-48 小時</a:t>
            </a:r>
          </a:p>
          <a:p>
            <a:r>
              <a:rPr sz="1100"/>
              <a:t>MH 有「復發」風險，特別是在最初 24 小時內。</a:t>
            </a:r>
          </a:p>
          <a:p>
            <a:r>
              <a:rPr sz="1100"/>
              <a:t>繼續 Dantrolene 預防劑量（每 6 小時 1 mg/kg）維持 24 小時。</a:t>
            </a:r>
          </a:p>
          <a:p>
            <a:r>
              <a:rPr sz="1100"/>
              <a:t>監測尿量和尿液顏色（預防肌紅蛋白尿造成急性腎衰竭）。</a:t>
            </a:r>
          </a:p>
          <a:p/>
          <a:p>
            <a:r>
              <a:rPr sz="1100"/>
              <a:t>【護理師的關鍵任務】</a:t>
            </a:r>
          </a:p>
          <a:p>
            <a:r>
              <a:rPr sz="1100"/>
              <a:t>在 MH 急救中，護理師的任務非常明確：</a:t>
            </a:r>
          </a:p>
          <a:p>
            <a:r>
              <a:rPr sz="1100"/>
              <a:t>• 快速備好 Dantrolene 並協助溶解</a:t>
            </a:r>
          </a:p>
          <a:p>
            <a:r>
              <a:rPr sz="1100"/>
              <a:t>• 準備降溫材料</a:t>
            </a:r>
          </a:p>
          <a:p>
            <a:r>
              <a:rPr sz="1100"/>
              <a:t>• 記錄所有用藥時間和病人生命跡象</a:t>
            </a:r>
          </a:p>
          <a:p>
            <a:r>
              <a:rPr sz="1100"/>
              <a:t>• 協助抽血（血氣、電解質、CK、肌紅蛋白）</a:t>
            </a:r>
          </a:p>
          <a:p>
            <a:r>
              <a:rPr sz="1100"/>
              <a:t>• 聯絡 ICU 準備床位</a:t>
            </a:r>
          </a:p>
          <a:p/>
          <a:p>
            <a:r>
              <a:rPr sz="1100"/>
              <a:t>記住口訣 CHEAT：Call-Help, Halt triggers, Everyone cool, Administer Dantrolene, Treat complications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【章節引導 — 建議 30 秒】</a:t>
            </a:r>
          </a:p>
          <a:p/>
          <a:p>
            <a:r>
              <a:rPr sz="1100"/>
              <a:t>最後一個章節，我們來看各個藥物的特殊毒性，以及使用時需要注意的禁忌。</a:t>
            </a:r>
          </a:p>
          <a:p/>
          <a:p>
            <a:r>
              <a:rPr sz="1100"/>
              <a:t>這些不是理論，而是真實發生過、而且我們今天仍然需要在臨床注意的安全事項。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【第十二章內容 — 建議 7-8 分鐘】</a:t>
            </a:r>
          </a:p>
          <a:p/>
          <a:p>
            <a:r>
              <a:rPr sz="1100"/>
              <a:t>【Sevoflurane：Compound A 腎毒性】</a:t>
            </a:r>
          </a:p>
          <a:p>
            <a:r>
              <a:rPr sz="1100"/>
              <a:t>在低流量麻醉（&lt;1 L/min 新鮮氣體）的情況下，Sevoflurane 與 CO₂ 吸收劑（Soda lime）發生化學反應，產生降解產物「Compound A」。</a:t>
            </a:r>
          </a:p>
          <a:p/>
          <a:p>
            <a:r>
              <a:rPr sz="1100"/>
              <a:t>Compound A 在動物實驗（大鼠）中顯示腎小管毒性。</a:t>
            </a:r>
          </a:p>
          <a:p/>
          <a:p>
            <a:r>
              <a:rPr sz="1100"/>
              <a:t>但！在人體的臨床研究，包括數千名病人的資料，並未發現有臨床意義的腎毒性（因為人類的 β-lyase 代謝途徑不同於大鼠）。</a:t>
            </a:r>
          </a:p>
          <a:p/>
          <a:p>
            <a:r>
              <a:rPr sz="1100"/>
              <a:t>儘管如此，仍建議：</a:t>
            </a:r>
          </a:p>
          <a:p>
            <a:r>
              <a:rPr sz="1100"/>
              <a:t>• 新鮮氣體流量維持 ≥ 2 L/min（市場主流做法）</a:t>
            </a:r>
          </a:p>
          <a:p>
            <a:r>
              <a:rPr sz="1100"/>
              <a:t>• 或選擇不含 Barium 的新型吸收劑（如 Amsorb）</a:t>
            </a:r>
          </a:p>
          <a:p/>
          <a:p>
            <a:r>
              <a:rPr sz="1100"/>
              <a:t>【Desflurane / Isoflurane：CO 生成】</a:t>
            </a:r>
          </a:p>
          <a:p>
            <a:r>
              <a:rPr sz="1100"/>
              <a:t>這個毒性很少討論，但確實存在。</a:t>
            </a:r>
          </a:p>
          <a:p/>
          <a:p>
            <a:r>
              <a:rPr sz="1100"/>
              <a:t>當 CO₂ 吸收劑乾燥時（例如週末機器沒開、吸收劑長時間暴露在乾燥氣體中），與 Desflurane 或 Isoflurane 反應會產生一氧化碳（CO）。</a:t>
            </a:r>
          </a:p>
          <a:p/>
          <a:p>
            <a:r>
              <a:rPr sz="1100"/>
              <a:t>臨床情境：週一早上第一台手術最危險，因為吸收劑可能已經乾透了。</a:t>
            </a:r>
          </a:p>
          <a:p/>
          <a:p>
            <a:r>
              <a:rPr sz="1100"/>
              <a:t>預防：確認吸收劑顏色正常（通常指示劑變色代表已耗盡），定期更換，並確保機器關機時不要留著乾燥氣體通過。</a:t>
            </a:r>
          </a:p>
          <a:p/>
          <a:p>
            <a:r>
              <a:rPr sz="1100"/>
              <a:t>【N₂O 的三大特殊問題】</a:t>
            </a:r>
          </a:p>
          <a:p/>
          <a:p>
            <a:r>
              <a:rPr sz="1100"/>
              <a:t>問題一：擴散入封閉腔</a:t>
            </a:r>
          </a:p>
          <a:p>
            <a:r>
              <a:rPr sz="1100"/>
              <a:t>N₂O 的分子量小、血溶性低，能比 N₂ 快 34 倍擴散進入密閉的氣腔。</a:t>
            </a:r>
          </a:p>
          <a:p>
            <a:r>
              <a:rPr sz="1100"/>
              <a:t>當體內有含氣的封閉腔時：腸腔（腸梗阻）、氣胸腔、中耳手術腔、眼球內氣體（SF₆ 填充術後）——N₂O 會快速進入，使腔內壓力或體積急速增加。</a:t>
            </a:r>
          </a:p>
          <a:p/>
          <a:p>
            <a:r>
              <a:rPr sz="1100"/>
              <a:t>絕對禁忌：</a:t>
            </a:r>
          </a:p>
          <a:p>
            <a:r>
              <a:rPr sz="1100"/>
              <a:t>• 腸梗阻</a:t>
            </a:r>
          </a:p>
          <a:p>
            <a:r>
              <a:rPr sz="1100"/>
              <a:t>• 氣胸（未引流）</a:t>
            </a:r>
          </a:p>
          <a:p>
            <a:r>
              <a:rPr sz="1100"/>
              <a:t>• 鼓室成形術（中耳手術）</a:t>
            </a:r>
          </a:p>
          <a:p>
            <a:r>
              <a:rPr sz="1100"/>
              <a:t>• 眼球內填充 SF₆ 或 C₃F₈ 氣體後（至少 3 個月）</a:t>
            </a:r>
          </a:p>
          <a:p/>
          <a:p>
            <a:r>
              <a:rPr sz="1100"/>
              <a:t>問題二：維生素 B12 毒性</a:t>
            </a:r>
          </a:p>
          <a:p>
            <a:r>
              <a:rPr sz="1100"/>
              <a:t>N₂O 會不可逆地氧化維生素 B12，抑制甲硫氨酸合成酶（Methionine synthase）。</a:t>
            </a:r>
          </a:p>
          <a:p>
            <a:r>
              <a:rPr sz="1100"/>
              <a:t>長時間暴露（如 ICU 病人）或重複暴露 → 骨髓抑制、巨球性貧血、神經病變。</a:t>
            </a:r>
          </a:p>
          <a:p>
            <a:r>
              <a:rPr sz="1100"/>
              <a:t>臨床建議：連續使用不超過 6 小時；有維生素 B12 缺乏風險的病人（素食主義者、老人）要特別小心。</a:t>
            </a:r>
          </a:p>
          <a:p/>
          <a:p>
            <a:r>
              <a:rPr sz="1100"/>
              <a:t>問題三：環境影響</a:t>
            </a:r>
          </a:p>
          <a:p>
            <a:r>
              <a:rPr sz="1100"/>
              <a:t>N₂O 是強效溫室氣體，效果是 CO₂ 的 265 倍（100 年 GWP）。</a:t>
            </a:r>
          </a:p>
          <a:p>
            <a:r>
              <a:rPr sz="1100"/>
              <a:t>許多醫院基於環保考量正在減少 N₂O 使用。</a:t>
            </a:r>
          </a:p>
          <a:p/>
          <a:p>
            <a:r>
              <a:rPr sz="1100"/>
              <a:t>【Halothane 肝炎：歷史教訓】</a:t>
            </a:r>
          </a:p>
          <a:p>
            <a:r>
              <a:rPr sz="1100"/>
              <a:t>Halothane 在重複使用後可引起免疫介導的暴發性肝炎，死亡率很高。</a:t>
            </a:r>
          </a:p>
          <a:p>
            <a:r>
              <a:rPr sz="1100"/>
              <a:t>現代臨床已幾乎完全淘汰 Halothane，但這個案例提醒我們麻醉藥物的長期安全評估非常重要。</a:t>
            </a:r>
          </a:p>
          <a:p/>
          <a:p>
            <a:r>
              <a:rPr sz="1100"/>
              <a:t>【職業暴露：保護我們自己】</a:t>
            </a:r>
          </a:p>
          <a:p>
            <a:r>
              <a:rPr sz="1100"/>
              <a:t>廢氣排除系統（Scavenging System）是保護手術室人員的重要設備。</a:t>
            </a:r>
          </a:p>
          <a:p>
            <a:r>
              <a:rPr sz="1100"/>
              <a:t>定期檢測手術室環境中的吸入藥濃度。</a:t>
            </a:r>
          </a:p>
          <a:p>
            <a:r>
              <a:rPr sz="1100"/>
              <a:t>如果你在手術室聞到明顯的甜味或藥味，要立刻報告——這代表廢氣系統可能有問題。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【課程重點複習 — 建議 5-6 分鐘】</a:t>
            </a:r>
          </a:p>
          <a:p/>
          <a:p>
            <a:r>
              <a:rPr sz="1100"/>
              <a:t>好，我們今天講了 12 個重點，現在讓我快速帶大家複習最核心的臨床要點。</a:t>
            </a:r>
          </a:p>
          <a:p/>
          <a:p>
            <a:r>
              <a:rPr sz="1100"/>
              <a:t>1. 誘導速度快慢，核心指標是血/氣分配係數。係數低 = 快（Des最快，0.45）。</a:t>
            </a:r>
          </a:p>
          <a:p/>
          <a:p>
            <a:r>
              <a:rPr sz="1100"/>
              <a:t>2. MAC 是 ED₅₀，不是 ED₁₀₀！臨床需要 1.3 MAC 才達到有效麻醉。Sevo = 2%，記住這個數字。</a:t>
            </a:r>
          </a:p>
          <a:p/>
          <a:p>
            <a:r>
              <a:rPr sz="1100"/>
              <a:t>3. 心衰竭病人 CO 低，誘導速度意外地快，劑量要減量。這是臨床上容易踩的陷阱。</a:t>
            </a:r>
          </a:p>
          <a:p/>
          <a:p>
            <a:r>
              <a:rPr sz="1100"/>
              <a:t>4. Sevoflurane 氣道溫和，幼兒和氣喘病人首選。低流量時注意 Compound A。</a:t>
            </a:r>
          </a:p>
          <a:p/>
          <a:p>
            <a:r>
              <a:rPr sz="1100"/>
              <a:t>5. Desflurane 不可用於清醒誘導！氣道刺激強，快速升濃度時交感亢奮。</a:t>
            </a:r>
          </a:p>
          <a:p/>
          <a:p>
            <a:r>
              <a:rPr sz="1100"/>
              <a:t>6. N₂O 的封閉腔禁忌：腸梗阻、氣胸、中耳手術、眼球內氣體。這個清單要背。</a:t>
            </a:r>
          </a:p>
          <a:p/>
          <a:p>
            <a:r>
              <a:rPr sz="1100"/>
              <a:t>7. EtCO₂ 急速上升 → 第一個想到惡性高熱！立刻停藥、呼叫支援。</a:t>
            </a:r>
          </a:p>
          <a:p/>
          <a:p>
            <a:r>
              <a:rPr sz="1100"/>
              <a:t>8. Dantrolene 2.5 mg/kg IV 是惡性高熱的唯一解藥。麻醉護理師要知道它放在哪裡、怎麼溶解。</a:t>
            </a:r>
          </a:p>
          <a:p/>
          <a:p>
            <a:r>
              <a:rPr sz="1100"/>
              <a:t>9. 神經外科選 Sevoflurane，ICP 影響最小。維持 &lt;1 MAC 並搭配適度過度通氣。</a:t>
            </a:r>
          </a:p>
          <a:p/>
          <a:p>
            <a:r>
              <a:rPr sz="1100"/>
              <a:t>10. 廢氣排除系統：這是保護你自己和同事的設備，發現異常立刻通報。</a:t>
            </a:r>
          </a:p>
          <a:p/>
          <a:p>
            <a:r>
              <a:rPr sz="1100"/>
              <a:t>這 10 點，就是今天課程的精華。如果你只記得這些，已經超過 90% 的臨床需求了。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【快速參考卡 — 建議 2-3 分鐘】</a:t>
            </a:r>
          </a:p>
          <a:p/>
          <a:p>
            <a:r>
              <a:rPr sz="1100"/>
              <a:t>這一頁是你的「隨身參考卡」，把它拍下來存在手機裡。</a:t>
            </a:r>
          </a:p>
          <a:p/>
          <a:p>
            <a:r>
              <a:rPr sz="1100"/>
              <a:t>上面的表格包含了我們今天講的四種主要藥物的關鍵數值，以及最重要的 MAC 影響因素摘要和惡性高熱的應急口訣。</a:t>
            </a:r>
          </a:p>
          <a:p/>
          <a:p>
            <a:r>
              <a:rPr sz="1100"/>
              <a:t>關於 MH 口訣 CHEAT：</a:t>
            </a:r>
          </a:p>
          <a:p>
            <a:r>
              <a:rPr sz="1100"/>
              <a:t>C — Call for help（呼叫支援）</a:t>
            </a:r>
          </a:p>
          <a:p>
            <a:r>
              <a:rPr sz="1100"/>
              <a:t>H — Hyperventilate with 100% O₂（高流量純氧過度通氣）</a:t>
            </a:r>
          </a:p>
          <a:p>
            <a:r>
              <a:rPr sz="1100"/>
              <a:t>E — End trigger agents（停用誘發劑）</a:t>
            </a:r>
          </a:p>
          <a:p>
            <a:r>
              <a:rPr sz="1100"/>
              <a:t>A — Administer Dantrolene（給 Dantrolene）</a:t>
            </a:r>
          </a:p>
          <a:p>
            <a:r>
              <a:rPr sz="1100"/>
              <a:t>T — Treat complications（處理併發症：酸中毒、高鉀、降溫）</a:t>
            </a:r>
          </a:p>
          <a:p/>
          <a:p>
            <a:r>
              <a:rPr sz="1100"/>
              <a:t>這個口訣在真正的緊急狀況下，可以幫助你在腦袋空白時還能照步驟行動。</a:t>
            </a:r>
          </a:p>
          <a:p/>
          <a:p>
            <a:r>
              <a:rPr sz="1100"/>
              <a:t>記住：在 MH 發生的每一分鐘都很重要。越快行動，預後越好。</a:t>
            </a:r>
          </a:p>
          <a:p/>
          <a:p>
            <a:r>
              <a:rPr sz="1100"/>
              <a:t>（備注：如果醫院有 MH 急救推車，建議找機會提前確認它的位置和 Dantrolene 的庫存。）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【結語與問答 — 建議 5-10 分鐘】</a:t>
            </a:r>
          </a:p>
          <a:p/>
          <a:p>
            <a:r>
              <a:rPr sz="1100"/>
              <a:t>好，我們今天的課程到這裡。讓我做一個最後的總結。</a:t>
            </a:r>
          </a:p>
          <a:p/>
          <a:p>
            <a:r>
              <a:rPr sz="1100"/>
              <a:t>【四句話記住今天的精華】</a:t>
            </a:r>
          </a:p>
          <a:p/>
          <a:p>
            <a:r>
              <a:rPr sz="1100"/>
              <a:t>第一：溶解度決定速度，油/氣係數決定效能。</a:t>
            </a:r>
          </a:p>
          <a:p>
            <a:r>
              <a:rPr sz="1100"/>
              <a:t>第二：MAC 是 ED₅₀，影響因素（高齡、懷孕、低溫）會讓你需要減量。</a:t>
            </a:r>
          </a:p>
          <a:p>
            <a:r>
              <a:rPr sz="1100"/>
              <a:t>第三：每次監測到不明原因的 EtCO₂ 上升，先想到惡性高熱。</a:t>
            </a:r>
          </a:p>
          <a:p>
            <a:r>
              <a:rPr sz="1100"/>
              <a:t>第四：Dantrolene 的位置和用法，每個手術室護理師都要知道。</a:t>
            </a:r>
          </a:p>
          <a:p/>
          <a:p>
            <a:r>
              <a:rPr sz="1100"/>
              <a:t>【作為麻醉護理師的角色】</a:t>
            </a:r>
          </a:p>
          <a:p>
            <a:r>
              <a:rPr sz="1100"/>
              <a:t>你們在手術室裡的角色非常重要。</a:t>
            </a:r>
          </a:p>
          <a:p/>
          <a:p>
            <a:r>
              <a:rPr sz="1100"/>
              <a:t>你的眼睛看著監測儀器，你的手在管理病人的各種管路，你的判斷力在麻醉醫師最忙的時候可能是病人安全的最後一道防線。</a:t>
            </a:r>
          </a:p>
          <a:p/>
          <a:p>
            <a:r>
              <a:rPr sz="1100"/>
              <a:t>今天學的這些藥理知識，不只是為了考試，而是讓你在臨床上更有信心、更有能力地照顧病人。</a:t>
            </a:r>
          </a:p>
          <a:p/>
          <a:p>
            <a:r>
              <a:rPr sz="1100"/>
              <a:t>希望大家今天有收穫。</a:t>
            </a:r>
          </a:p>
          <a:p/>
          <a:p>
            <a:r>
              <a:rPr sz="1100"/>
              <a:t>我現在開放問題，有任何不清楚的，請舉手。</a:t>
            </a:r>
          </a:p>
          <a:p/>
          <a:p>
            <a:r>
              <a:rPr sz="1100"/>
              <a:t>（如果沒有問題，可以做簡短的測驗——你們的測驗題已經在 NotebookLM 上生成好了，可以掃 QR code 作答。）</a:t>
            </a:r>
          </a:p>
          <a:p/>
          <a:p>
            <a:r>
              <a:rPr sz="1100"/>
              <a:t>謝謝大家！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3D2810"/>
          </a:solidFill>
          <a:ln w="12700">
            <a:solidFill>
              <a:srgbClr val="3D2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91440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06240"/>
            <a:ext cx="6583680" cy="5486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秀傳醫療體系 麻醉科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麻醉科護理師訓練班教學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2286000" cy="54864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04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主講：麻醉科醫師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對象：新進麻醉科護理師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13716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C3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Inhalation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5C3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Anesthetics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課程大綱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822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吸入性麻醉藥概論與分類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307592"/>
            <a:ext cx="4206240" cy="411480"/>
          </a:xfrm>
          <a:prstGeom prst="rect">
            <a:avLst/>
          </a:prstGeom>
          <a:solidFill>
            <a:srgbClr val="EDE6D9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07592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0759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1307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藥物動力學路徑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1792224"/>
            <a:ext cx="420624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792224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792224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17922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吸收三大影響因素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2276856"/>
            <a:ext cx="4206240" cy="411480"/>
          </a:xfrm>
          <a:prstGeom prst="rect">
            <a:avLst/>
          </a:prstGeom>
          <a:solidFill>
            <a:srgbClr val="EDE6D9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276856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76856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22768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血／氣分配係數比較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4320" y="2761488"/>
            <a:ext cx="420624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761488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761488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27614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 定義與臨床意義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" y="3246120"/>
            <a:ext cx="4206240" cy="411480"/>
          </a:xfrm>
          <a:prstGeom prst="rect">
            <a:avLst/>
          </a:prstGeom>
          <a:solidFill>
            <a:srgbClr val="EDE6D9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246120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4612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 影響因素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846320" y="822960"/>
            <a:ext cx="420624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822960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82296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822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常用藥物特性比較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846320" y="1307592"/>
            <a:ext cx="4206240" cy="411480"/>
          </a:xfrm>
          <a:prstGeom prst="rect">
            <a:avLst/>
          </a:prstGeom>
          <a:solidFill>
            <a:srgbClr val="EDE6D9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1307592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130759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9240" y="1307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心血管系統影響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846320" y="1792224"/>
            <a:ext cx="420624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1792224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1792224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49240" y="17922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呼吸系統影響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846320" y="2276856"/>
            <a:ext cx="4206240" cy="411480"/>
          </a:xfrm>
          <a:prstGeom prst="rect">
            <a:avLst/>
          </a:prstGeom>
          <a:solidFill>
            <a:srgbClr val="EDE6D9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2276856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276856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49240" y="22768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腦神經與顱內壓影響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846320" y="2761488"/>
            <a:ext cx="4206240" cy="4114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2761488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2761488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49240" y="27614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惡性高熱（Malignant Hyperthermia）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4846320" y="3246120"/>
            <a:ext cx="4206240" cy="411480"/>
          </a:xfrm>
          <a:prstGeom prst="rect">
            <a:avLst/>
          </a:prstGeom>
          <a:solidFill>
            <a:srgbClr val="EDE6D9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3246120"/>
            <a:ext cx="438912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24612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4924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藥物毒性與特殊注意事項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概論與分類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 · 分類 · 作用機轉 · 歷史演進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 吸入性麻醉藥概論與分類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73152" cy="64008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定義：經由肺部吸入，通過肺泡-血液屏障，分布至大腦，產生可逆性麻醉狀態的藥物。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4069080" cy="2286000"/>
          </a:xfrm>
          <a:prstGeom prst="rect">
            <a:avLst/>
          </a:prstGeom>
          <a:solidFill>
            <a:srgbClr val="EAE0CE"/>
          </a:solidFill>
          <a:ln w="12700">
            <a:solidFill>
              <a:srgbClr val="EAE0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673352"/>
            <a:ext cx="3849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揮發性麻醉藥（Volatile Agents）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057400"/>
            <a:ext cx="384962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Sevoflurane（七氟烷）✦ 臨床首選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Desflurane（地氟烷）✦ 甦醒最快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Isoflurane（異氟烷）✦ 效能強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Halothane（氟烷）✦ 歷史藥物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4297680" cy="2286000"/>
          </a:xfrm>
          <a:prstGeom prst="rect">
            <a:avLst/>
          </a:prstGeom>
          <a:solidFill>
            <a:srgbClr val="E8EDDF"/>
          </a:solidFill>
          <a:ln w="12700">
            <a:solidFill>
              <a:srgbClr val="E8EDD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1728" y="1673352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氣體麻醉藥（Gaseous Agents）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2057400"/>
            <a:ext cx="407822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N₂O（笑氣）✦ 常作輔助使用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Xenon（氙氣）✦ 研究中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041648"/>
            <a:ext cx="8595360" cy="822960"/>
          </a:xfrm>
          <a:prstGeom prst="rect">
            <a:avLst/>
          </a:prstGeom>
          <a:solidFill>
            <a:srgbClr val="F0E8D5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4041648"/>
            <a:ext cx="73152" cy="82296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41648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作用機轉：</a:t>
            </a:r>
            <a:pPr indent="0" marL="0">
              <a:buNone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增強 GABA-A 受體抑制效果（↑ Cl⁻ 內流）  ＋  抑制 NMDA 受體（↓ 興奮性）→ 全身麻醉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藥物動力學路徑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揮發器 → 肺泡 → 血液 → 大腦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FA/FI 比值與吸收曲線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 藥物動力學路徑：吸入→肺泡→血液→大腦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1508760" cy="12801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揮發器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Vaporizer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輸出濃度 Fi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554480"/>
            <a:ext cx="228600" cy="54864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4630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960120"/>
            <a:ext cx="1508760" cy="12801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0058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麻醉迴路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Circuit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65960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稀釋・重複吸入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554480"/>
            <a:ext cx="228600" cy="54864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4630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960120"/>
            <a:ext cx="1508760" cy="12801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10058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肺　泡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Alveoli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11880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濃度 FA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1554480"/>
            <a:ext cx="228600" cy="54864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4630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960120"/>
            <a:ext cx="1508760" cy="12801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0058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動脈血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Arterial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溶解・運輸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1554480"/>
            <a:ext cx="228600" cy="54864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4630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960120"/>
            <a:ext cx="1508760" cy="12801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10058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　腦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麻醉效果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468880"/>
            <a:ext cx="8595360" cy="54864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FA/FI 比值：</a:t>
            </a:r>
            <a:pPr indent="0" marL="0">
              <a:buNone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 = 肺泡濃度（實際腦部感受到的濃度）；FI = 吸入濃度。FA/FI 越快接近 1.0，誘導速度越快。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" y="3154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FA/FI 上升速度比較（誘導快慢）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94560" y="3557016"/>
            <a:ext cx="5029200" cy="20116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最快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3867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194560" y="3904488"/>
            <a:ext cx="3657600" cy="20116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" y="4215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194560" y="4251960"/>
            <a:ext cx="3840480" cy="201168"/>
          </a:xfrm>
          <a:prstGeom prst="rect">
            <a:avLst/>
          </a:prstGeom>
          <a:solidFill>
            <a:srgbClr val="8B9E6A"/>
          </a:solidFill>
          <a:ln w="12700">
            <a:solidFill>
              <a:srgbClr val="8B9E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4215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4320" y="4562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Isoflurane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194560" y="4599432"/>
            <a:ext cx="2286000" cy="2011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4562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慢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吸收三大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影響因素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溶解度 · 心輸出量 · 肺泡-靜脈分壓差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 吸收三大影響因素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788920" cy="402336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88920" cy="50292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86868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868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溶解度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1430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血／氣分配係數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係數低 → 吸收少 → FA 上升快 → 誘導與甦醒快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係數高 → 吸收多 → FA 上升慢 → 誘導與甦醒慢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例：Des(0.45) 遠快於 Iso(1.4)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822960"/>
            <a:ext cx="2788920" cy="402336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822960"/>
            <a:ext cx="2788920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86868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22192" y="868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心輸出量（CO）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22192" y="11430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Cardiac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1463040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 越高 → 肺血流↑ → 藥物吸收↑ → FA 上升慢 → 誘導慢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心衰竭（CO↓）→ FA 上升快 → 誘導更快（需減量！）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臨床：依據血流動力狀態調整藥物劑量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81344" y="822960"/>
            <a:ext cx="2788920" cy="402336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1344" y="822960"/>
            <a:ext cx="2788920" cy="50292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86868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75704" y="868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肺泡-靜脈分壓差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75704" y="11430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Alveolar-Venous Gradient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18504" y="1463040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分壓差大 → 吸收多 → FA 上升慢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組織依序飽和：VRG（腦心）→ 肌肉 → 脂肪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脂肪吸收後，分壓差縮小，FA 上升加速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血／氣分配係數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決定誘導與甦醒速度的關鍵數值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 血／氣分配係數（Blood:Gas Partition Coefficient）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數值越低 → 誘導越快、甦醒越快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243584"/>
            <a:ext cx="942975" cy="36576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4735" y="118872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0.45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7556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810512"/>
            <a:ext cx="984885" cy="365760"/>
          </a:xfrm>
          <a:prstGeom prst="rect">
            <a:avLst/>
          </a:prstGeom>
          <a:solidFill>
            <a:srgbClr val="8B9E6A"/>
          </a:solidFill>
          <a:ln w="12700">
            <a:solidFill>
              <a:srgbClr val="8B9E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6645" y="175564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0.47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232257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2377440"/>
            <a:ext cx="1362075" cy="3657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13835" y="232257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0.65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288950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Isoflurane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0" y="2944368"/>
            <a:ext cx="2933700" cy="3657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85460" y="288950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34564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Halothane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0" y="3511296"/>
            <a:ext cx="5029200" cy="36576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345643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451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60720" y="777240"/>
            <a:ext cx="3108960" cy="40690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777240"/>
            <a:ext cx="3108960" cy="384048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777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臨床意義比較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60720" y="1234440"/>
            <a:ext cx="3108960" cy="457200"/>
          </a:xfrm>
          <a:prstGeom prst="rect">
            <a:avLst/>
          </a:prstGeom>
          <a:solidFill>
            <a:srgbClr val="F0EBE0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69480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最快誘導/甦醒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1764792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1764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69480" y="17647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快速，氣道溫和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2295144"/>
            <a:ext cx="3108960" cy="457200"/>
          </a:xfrm>
          <a:prstGeom prst="rect">
            <a:avLst/>
          </a:prstGeom>
          <a:solidFill>
            <a:srgbClr val="F0EBE0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22951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Isoflurane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9480" y="229514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中速，效能強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2825496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2825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Halothane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69480" y="282549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慢，歷史藥物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60720" y="3355848"/>
            <a:ext cx="3108960" cy="457200"/>
          </a:xfrm>
          <a:prstGeom prst="rect">
            <a:avLst/>
          </a:prstGeom>
          <a:solidFill>
            <a:srgbClr val="F0EBE0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0" y="33558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9480" y="33558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快，輔助用途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343400"/>
            <a:ext cx="5303520" cy="502920"/>
          </a:xfrm>
          <a:prstGeom prst="rect">
            <a:avLst/>
          </a:prstGeom>
          <a:solidFill>
            <a:srgbClr val="E8EDDF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3434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Meyer-Overton Rule：</a:t>
            </a:r>
            <a:pPr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油/氣係數越高 → 效能越強（MAC 越低）。脂溶性決定麻醉效能。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 定義與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臨床意義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最低肺泡濃度 · ED50 · 臨床劑量應用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 MAC（最低肺泡濃度）定義與臨床意義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77724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 = </a:t>
            </a:r>
            <a:pPr indent="0" marL="0">
              <a:buNone/>
            </a:pPr>
            <a:r>
              <a:rPr lang="en-US" sz="1400" i="1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Minimum Alveolar Concentration</a:t>
            </a:r>
            <a:pPr indent="0" marL="0">
              <a:buNone/>
            </a:pPr>
            <a:r>
              <a:rPr lang="en-US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使 50% 受試者在切皮時無體動反應所需的最低肺泡麻醉藥濃度（ED₅₀）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各藥物 MAC 數值（at 37°C, 1 atm, 100% O₂）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0312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藥物名稱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MAC 值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臨床特點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9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N₂O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9E6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3D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無法單獨完成麻醉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Desflurane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C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6.6%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3D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甦醒最快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Sevoflurane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69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3D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幼兒首選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Isoflurane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0522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1.15%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3D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效能強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Halothane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451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0.75%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3D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歷史藥物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577840" y="822960"/>
            <a:ext cx="3291840" cy="402336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822960"/>
            <a:ext cx="3291840" cy="38404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8229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 臨床應用倍數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0" y="1298448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0" y="1298448"/>
            <a:ext cx="73152" cy="548640"/>
          </a:xfrm>
          <a:prstGeom prst="rect">
            <a:avLst/>
          </a:prstGeom>
          <a:solidFill>
            <a:srgbClr val="8B9E6A"/>
          </a:solidFill>
          <a:ln w="12700">
            <a:solidFill>
              <a:srgbClr val="8B9E6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12984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0.3–0.5 MAC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269480" y="1298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輕度鎮靜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0" y="1956816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1956816"/>
            <a:ext cx="73152" cy="54864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19568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1.0 MAC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269480" y="195681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無體動（ED₅₀）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0" y="2615184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0" y="2615184"/>
            <a:ext cx="73152" cy="54864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26151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1.3 MAC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269480" y="261518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插管麻醉（ED₉₅）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69280" y="3273552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0" y="3273552"/>
            <a:ext cx="73152" cy="54864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2735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≥1.5 MAC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269480" y="327355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深度麻醉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 影響因素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升高 MAC 的因素 · 降低 MAC 的因素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 MAC 影響因素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438912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▲ 升高 MAC 的因素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3931920" cy="3108960"/>
          </a:xfrm>
          <a:prstGeom prst="rect">
            <a:avLst/>
          </a:prstGeom>
          <a:solidFill>
            <a:srgbClr val="FEF6F0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體溫過高（Hyperthermia）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慢性飲酒／慢性CNS興奮藥使用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甲狀腺亢進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嬰幼兒（高峰：6個月大）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中樞興奮藥（可卡因、安非他命）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高血壓（急性）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438912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2296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▼ 降低 MAC 的因素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206240" cy="3108960"/>
          </a:xfrm>
          <a:prstGeom prst="rect">
            <a:avLst/>
          </a:prstGeom>
          <a:solidFill>
            <a:srgbClr val="F0F4EA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258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高齡（每增10歲，MAC約降6%）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懷孕（降低30-40%）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低體溫（每降1°C，MAC約降5%）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急性飲酒／靜脈麻醉藥（propofol等）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阿片類藥物（opioids）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α₂促效劑（dexmedetomidine）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嚴重低血壓（MAP&lt;50 mmHg）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嚴重貧血（Hct&lt;10%）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4480560"/>
            <a:ext cx="8595360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3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不影響 MAC：</a:t>
            </a:r>
            <a:pPr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性別、麻醉持續時間、PaO₂（&gt;40 mmHg）、PaCO₂（15–95 mmHg）、血壓（正常範圍）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常用藥物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特性比較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 · Desflurane · Isoflurane · N₂O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 常用吸入性麻醉藥物特性比較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8778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14500"/>
                <a:gridCol w="1714500"/>
                <a:gridCol w="1714500"/>
                <a:gridCol w="17145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特性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Sevoflurane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Desflurane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Isoflurane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52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N₂O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D3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MAC (%)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2.0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6.6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A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血/氣係數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1.4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0.47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誘導速度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A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甦醒速度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氣道刺激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 ✓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 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A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 ✓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心血管抑制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輕-中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輕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輕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支氣管擴張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佳 ✓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A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ICP 影響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特殊毒性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Compd A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CO生成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A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CO生成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擴散封閉腔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心血管系統影響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心肌收縮力 · SVR · 心律 · 護理監測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 吸入性麻醉藥對心血管系統的影響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251960" cy="187452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251960" cy="41148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心肌抑制（負性肌力）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劑量依賴性抑制心肌收縮力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強度：Halothane &gt; Iso &gt; Sevo ≈ Des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淨效應：CO 通常略降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51960" cy="187452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4251960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全身血管阻力（SVR）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所有吸入藥均造成血管擴張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SVR↓ → 血壓下降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Isoflurane 擴張效果最強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251960" cy="187452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34640"/>
            <a:ext cx="4251960" cy="41148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834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 特殊效應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29184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快速↑濃度 → 交感神經反射↑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HR↑、BP↑（需緩慢調整濃度）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已預先使用 opioid 可減弱此反應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2834640"/>
            <a:ext cx="4251960" cy="187452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834640"/>
            <a:ext cx="4251960" cy="41148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834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Halothane 心律不整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29184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使心肌對 Catecholamines 敏感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注射 epinephrine 易引起 VT/VF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現已少用；注射劑量需嚴格限制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護理監測重點：持續監測 BP · HR · ECG · SpO₂  ｜  快速低血壓 → 減低濃度 + 補液 + 血管加壓藥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呼吸系統影響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呼吸抑制 · 支氣管效應 · 氣道刺激 · 監測重點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 吸入性麻醉藥對呼吸系統的影響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FEF6F0"/>
          </a:solidFill>
          <a:ln w="12700">
            <a:solidFill>
              <a:srgbClr val="FEF6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9611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劑量依賴性呼吸抑制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280160"/>
            <a:ext cx="389534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潮氣量（TV）↓、呼吸頻率（RR）代償↑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每分鐘通氣量（MV）仍下降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CO₂ 反應曲線右移（對 CO₂ 耐受性↑）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呼吸暫停閾值提高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788920"/>
            <a:ext cx="4114800" cy="1600200"/>
          </a:xfrm>
          <a:prstGeom prst="rect">
            <a:avLst/>
          </a:prstGeom>
          <a:solidFill>
            <a:srgbClr val="F0F4EA"/>
          </a:solidFill>
          <a:ln w="12700">
            <a:solidFill>
              <a:srgbClr val="F0F4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286207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氣管支氣管效應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3246120"/>
            <a:ext cx="389534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Sevoflurane：支氣管擴張效果佳 → 氣喘患者首選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Desflurane：氣道刺激強 → 誘導期避免單獨使用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Isoflurane：輕度支氣管擴張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4297680" cy="1828800"/>
          </a:xfrm>
          <a:prstGeom prst="rect">
            <a:avLst/>
          </a:prstGeom>
          <a:solidFill>
            <a:srgbClr val="FEF6F0"/>
          </a:solidFill>
          <a:ln w="12700">
            <a:solidFill>
              <a:srgbClr val="FEF6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1728" y="896112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 氣道刺激（特別注意）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1280160"/>
            <a:ext cx="407822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誘導期（清醒插管）可引起：咳嗽、喉痙攣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黏液分泌物增加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建議：靜脈誘導後再開始 Des 維持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高濃度誘導禁忌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788920"/>
            <a:ext cx="4297680" cy="1600200"/>
          </a:xfrm>
          <a:prstGeom prst="rect">
            <a:avLst/>
          </a:prstGeom>
          <a:solidFill>
            <a:srgbClr val="F0F4EA"/>
          </a:solidFill>
          <a:ln w="12700">
            <a:solidFill>
              <a:srgbClr val="F0F4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81728" y="2862072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纖毛功能與分泌物清除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81728" y="3246120"/>
            <a:ext cx="40782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所有吸入藥均抑制纖毛運動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長時間手術→分泌物積聚→肺塌陷風險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術後呼吸道護理的重要性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護理監測：SpO₂ · EtCO₂ · 呼吸音 · 呼吸道分泌物  ｜  EtCO₂ 上升 → 通氣不足 → 調高呼吸器設定或手動輔助通氣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腦神經與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顱內壓影響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腦血流 · ICP · CMRO₂ · 神經外科選藥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 吸入性麻醉藥對腦神經與顱內壓的影響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68580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腦血流（CBF）雙重機制：</a:t>
            </a:r>
            <a:pPr indent="0" marL="0">
              <a:buNone/>
            </a:pPr>
            <a:r>
              <a:rPr lang="en-US" sz="13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直接血管擴張 → CBF↑（ICP↑）  vs  代謝抑制 → CMRO₂↓ → CO₂↓ → 血管收縮 → CBF↓（ICP↓）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ICP 上升風險（高→低）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2066544"/>
            <a:ext cx="4572000" cy="237744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2008" y="20116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40280" y="2478024"/>
            <a:ext cx="3200400" cy="237744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0408" y="24231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Isoflurane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40280" y="2889504"/>
            <a:ext cx="2286000" cy="237744"/>
          </a:xfrm>
          <a:prstGeom prst="rect">
            <a:avLst/>
          </a:prstGeom>
          <a:solidFill>
            <a:srgbClr val="8B9E6A"/>
          </a:solidFill>
          <a:ln w="12700">
            <a:solidFill>
              <a:srgbClr val="8B9E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28346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E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40280" y="3300984"/>
            <a:ext cx="1371600" cy="237744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21608" y="3246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1627632"/>
            <a:ext cx="3291840" cy="105156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1627632"/>
            <a:ext cx="73152" cy="105156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6733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CMRO₂ 抑制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2011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腦氧代謝降低→腦保護潛力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EEG 抑制（爆發性抑制 Burst Suppression）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577840" y="2770632"/>
            <a:ext cx="3291840" cy="105156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2770632"/>
            <a:ext cx="73152" cy="10515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28163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神經外科選藥原則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15000" y="3154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控制在 &lt;1.0 MAC + 適度過度通氣（PaCO₂ 30-35）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 最安全（ICP 影響最小）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 在神經外科常需避免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577840" y="3913632"/>
            <a:ext cx="3291840" cy="105156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3913632"/>
            <a:ext cx="73152" cy="105156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39593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5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 特殊注意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15000" y="4297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幼兒高濃度誘導：偶發癲癇樣EEG活動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臨床意義尚不明確，建議維持&lt;1.5 MAC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惡性高熱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Malignant Hyperthermia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RYR1 突變 · 觸發因素 · 緊急處置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 惡性高熱（MH）：病生理與早期徵象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50292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惡性高熱為罕見但致命的麻醉緊急情況，發生時每分鐘都至關重要！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4114800" cy="155448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517904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病生理機制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901952"/>
            <a:ext cx="389534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RYR1（Ryanodine Receptor 1）基因突變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誘發劑 → 骨骼肌肌漿網 Ca²⁺ 大量異常釋放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骨骼肌持續收縮 → 高代謝 → 高熱、乳酸酸中毒、橫紋肌溶解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108960"/>
            <a:ext cx="4114800" cy="1737360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3182112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觸發因素（誘發劑）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3566160"/>
            <a:ext cx="389534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所有揮發性吸入麻醉藥（Sevo、Des、Iso、Hal）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Succinylcholine（琥珀膽鹼）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靜脈麻醉藥（Propofol、Opioids）不觸發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444752"/>
            <a:ext cx="4297680" cy="3401568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81728" y="1517904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早期警示徵象（按重要性）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1728" y="1901952"/>
            <a:ext cx="407822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EtCO₂ 急遽上升（最早出現）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心律不整（竇性心跳過速、VT）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肌肉僵硬（咬肌痙攣→全身僵硬）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體溫快速升高（&gt;0.5°C/15分鐘；&gt;40°C）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代謝性酸中毒（pH↓、BE↓）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 橫紋肌溶解 → 深色尿（肌紅蛋白尿）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⑦ 高鉀血症（K⁺↑）→ 心臟毒性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 惡性高熱緊急處置流程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38912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804672"/>
            <a:ext cx="809244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822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立即停用所有誘發劑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822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停止吸入藥 · 停 Succinylcholine · 更換麻醉迴路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438912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1732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1417320"/>
            <a:ext cx="8092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4356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呼叫支援 + 啟動緊急程序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14356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通知外科醫師 · 呼叫協助人員 · 取得MH急救車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029968"/>
            <a:ext cx="438912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029968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029968"/>
            <a:ext cx="809244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0482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Dantrolene 給藥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0482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2.5 mg/kg IV，每5分鐘一次，可重複至 10 mg/kg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642616"/>
            <a:ext cx="438912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642616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2642616"/>
            <a:ext cx="8092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6609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積極降溫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26609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冰袋 · 冷靜脈輸液 · 體表冷敷 · 目標：核心溫度 &lt;38.5°C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255264"/>
            <a:ext cx="438912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255264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3255264"/>
            <a:ext cx="809244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2735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代謝性酸中毒處理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32735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NaHCO₃ 1-2 mEq/kg IV · 過度通氣 (PaCO₂ 25-30)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3867912"/>
            <a:ext cx="438912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867912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3867912"/>
            <a:ext cx="8092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高鉀血症處理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931920" y="3886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葡萄糖 + 胰島素 · CaCl₂ 保護心臟 · 監測ECG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4480560"/>
            <a:ext cx="438912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4805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77240" y="4480560"/>
            <a:ext cx="809244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44988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支持療法 + ICU 轉入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931920" y="44988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尿液鹼化保護腎臟 · 監測24-48小時（復發風險）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4956048"/>
            <a:ext cx="85953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560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Dantrolene：唯一有效解毒藥 | 每瓶需用60ml無菌注射用水溶解 | MHAUS熱線：1-800-644-9737（美國）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691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4A6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371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藥物毒性與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特殊注意事項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器官毒性 · 禁忌症 · 環境影響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3474720" cy="2971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46320"/>
            <a:ext cx="2926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 | 麻訓班教學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 藥物毒性與特殊注意事項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251960" cy="1965960"/>
          </a:xfrm>
          <a:prstGeom prst="rect">
            <a:avLst/>
          </a:prstGeom>
          <a:solidFill>
            <a:srgbClr val="FEF9F0"/>
          </a:solidFill>
          <a:ln w="12700">
            <a:solidFill>
              <a:srgbClr val="D4C5A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251960" cy="41148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 — Compound A 腎毒性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低流量（&lt;1 L/min）+ Soda Lime → 降解產物 Compound 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動物實驗：腎小管毒性；人體臨床意義仍有爭議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建議：新鮮氣體流量 &gt;2 L/min 或限制 &lt;2 MAC·h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51960" cy="1965960"/>
          </a:xfrm>
          <a:prstGeom prst="rect">
            <a:avLst/>
          </a:prstGeom>
          <a:solidFill>
            <a:srgbClr val="F0F4EA"/>
          </a:solidFill>
          <a:ln w="12700">
            <a:solidFill>
              <a:srgbClr val="D4C5A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4251960" cy="41148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 / Isoflurane — CO 生成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乾燥的 CO₂ 吸收劑（Soda Lime / Baralyme）+揮發藥 → 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風險：長時間未用、週一早晨第一台手術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預防：確認吸收劑顏色新鮮，潮濕狀態使用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251960" cy="1965960"/>
          </a:xfrm>
          <a:prstGeom prst="rect">
            <a:avLst/>
          </a:prstGeom>
          <a:solidFill>
            <a:srgbClr val="FEF0EC"/>
          </a:solidFill>
          <a:ln w="12700">
            <a:solidFill>
              <a:srgbClr val="D4C5A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26080"/>
            <a:ext cx="4251960" cy="41148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926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 — 擴散入封閉腔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" y="3383280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 血溶性低 → 快速進入充氣腔（比 N₂ 快34倍）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禁忌：腸梗阻、氣胸、中耳手術、眼內氣體（SF₆）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長時間使用：維生素B12/甲硫氨酸合成酶抑制 → 骨髓抑制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251960" cy="1965960"/>
          </a:xfrm>
          <a:prstGeom prst="rect">
            <a:avLst/>
          </a:prstGeom>
          <a:solidFill>
            <a:srgbClr val="FEF6F0"/>
          </a:solidFill>
          <a:ln w="12700">
            <a:solidFill>
              <a:srgbClr val="D4C5A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26080"/>
            <a:ext cx="4251960" cy="41148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926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Halothane — 肝炎（歷史教訓）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46320" y="3383280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輕型（&gt;25%）：可逆性轉氨酶上升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重型（1/30000）：免疫介導的暴發性肝炎，死亡率高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重複暴露風險倍增 → 現代臨床幾乎已淘汰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892040"/>
            <a:ext cx="859536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92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職業暴露與環境：</a:t>
            </a:r>
            <a:pPr indent="0" marL="0">
              <a:buNone/>
            </a:pPr>
            <a:r>
              <a:rPr lang="en-US" sz="1200" dirty="0">
                <a:solidFill>
                  <a:srgbClr val="5C3D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廢氣排除系統（Scavenging）必須正常運作  ｜  N₂O、揮發藥均為強效溫室氣體  ｜  定期環境濃度監測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臨床重點整理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384048" cy="70408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誘導速度快慢由血/氣分配係數決定：Des最快，Iso最慢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18488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18488"/>
            <a:ext cx="384048" cy="70408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18488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1618488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MAC 是 ED₅₀（非 ED₁₀₀），臨床需用 1.3 MAC 以上才達到可靠效果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414016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414016"/>
            <a:ext cx="384048" cy="7040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14016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414016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心衰竭患者：CO↓→誘導更快，劑量需減少！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209544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209544"/>
            <a:ext cx="384048" cy="70408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209544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209544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Sevoflurane：氣喘/小兒首選；低流量&lt;1L/min需注意 Compound 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005072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005072"/>
            <a:ext cx="384048" cy="7040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005072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005072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Desflurane：快速增濃度→交感興奮；不可用於清醒誘導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822960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822960"/>
            <a:ext cx="384048" cy="704088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822960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66360" y="822960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N₂O禁忌：腸梗阻、氣胸、中耳術、眼內SF₆氣體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1618488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618488"/>
            <a:ext cx="384048" cy="7040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618488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66360" y="1618488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EtCO₂ 急升是惡性高熱最早出現的警訊！立即停用誘發劑+呼叫支援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09160" y="2414016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414016"/>
            <a:ext cx="384048" cy="70408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414016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66360" y="2414016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Dantrolene 2.5 mg/kg IV 是治療惡性高熱的唯一解藥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09160" y="3209544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209544"/>
            <a:ext cx="384048" cy="70408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209544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66360" y="3209544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神經外科：Sevoflurane 對ICP影響最小；避免高濃度+頭低位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09160" y="4005072"/>
            <a:ext cx="4251960" cy="704088"/>
          </a:xfrm>
          <a:prstGeom prst="rect">
            <a:avLst/>
          </a:prstGeom>
          <a:solidFill>
            <a:srgbClr val="F5F0E8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4005072"/>
            <a:ext cx="384048" cy="70408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4005072"/>
            <a:ext cx="3840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166360" y="4005072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廢氣排除系統必須正常：保護工作人員免受職業暴露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快速參考：吸入性麻醉藥關鍵數值一覽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04672"/>
          <a:ext cx="8778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914400"/>
                <a:gridCol w="914400"/>
                <a:gridCol w="914400"/>
                <a:gridCol w="35661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藥物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2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MAC(%)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血氣係數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誘導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52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氣道刺激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特殊注意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Sevoflurane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2.0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Compound A (低流量)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Desflurane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6.6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快↑濃度→交感亢奮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Isoflurane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1.4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Coronary Steal?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N₂O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0.47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封閉腔禁忌 / B12毒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Halothane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0.75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2.4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1A0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肝炎 / 心律不整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5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3657600"/>
            <a:ext cx="4297680" cy="1280160"/>
          </a:xfrm>
          <a:prstGeom prst="rect">
            <a:avLst/>
          </a:prstGeom>
          <a:solidFill>
            <a:srgbClr val="FEF6F0"/>
          </a:solidFill>
          <a:ln w="12700">
            <a:solidFill>
              <a:srgbClr val="D4C5A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3657600"/>
            <a:ext cx="4297680" cy="347472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3657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↑ MAC：高熱、慢性飲酒、嬰幼兒、興奮劑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4041648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MAC：高齡(-6%/10年)、懷孕(-30%)、低體溫(-5%/°C)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1A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阿片類、鎮靜藥、嚴重低血壓、嚴重貧血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3657600"/>
            <a:ext cx="4480560" cy="128016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3657600"/>
            <a:ext cx="44805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36576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惡性高熱緊急記憶口訣（CHEAT）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4041648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C-Call for help  H-Hyperventilate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E-End trigger agents  A-Administer Dantrolene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T-Treat complications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C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B7C4A"/>
          </a:solidFill>
          <a:ln w="12700">
            <a:solidFill>
              <a:srgbClr val="6B7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3D2810"/>
          </a:solidFill>
          <a:ln w="12700">
            <a:solidFill>
              <a:srgbClr val="3D28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8B6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286000" cy="54864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課程總結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吸入性麻醉藥的核心特性由溶解度（血/氣係數）與效能（MAC）決定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臨床監測：BP · HR · EtCO₂ · SpO₂ 是護理師的四大生命線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Sevoflurane 是現代麻醉護理最常面對的藥物，熟悉其特性至關重要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D5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惡性高熱罕見但致命——EtCO₂ 急升即警覺，立即啟動緊急程序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3566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問與答 Q &amp; 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3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秀傳醫療體系 麻醉科 | 麻醉科護理師訓練班 | 2026年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吸入性麻醉藥 麻訓班教學</dc:title>
  <dc:subject>PptxGenJS Presentation</dc:subject>
  <dc:creator>秀傳醫療體系 麻醉科</dc:creator>
  <cp:lastModifiedBy>秀傳醫療體系 麻醉科</cp:lastModifiedBy>
  <cp:revision>1</cp:revision>
  <dcterms:created xsi:type="dcterms:W3CDTF">2026-04-15T01:47:10Z</dcterms:created>
  <dcterms:modified xsi:type="dcterms:W3CDTF">2026-04-15T01:47:10Z</dcterms:modified>
</cp:coreProperties>
</file>